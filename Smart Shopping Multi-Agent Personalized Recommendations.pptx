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Shopping is our answer to Problem Statement 2: personalized e-commerce with a multi-agent system. Everything you will see runs locally: a llama3 model and an embedding model served by Ollama, and SQLite as the agents’ long-term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describes today’s manual process: data is collected and segmented by hand, then marketing picks products per segment. Everyone in a segment sees the same list. The goals are higher engagement, larger orders, better retention and more conversions.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decision. The first version of the code pasted every product into one prompt, which is far beyond what an 8B model can read. Instead, a scoring step retrieves a small, diverse shortlist and the LLM re-ranks and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Agent orchestrates. It asks the Customer Agent for the profile and strategy, the Feedback Agent for what the shopper liked or ignored before, then the Customer Agent again for an LLM preference summary, cached in SQLite. The Product Agent scores the full catalogue and returns 12 diverse candidates; the LLM picks three and explains them. Any product ID the LLM invents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own example: frequent buyers get related products, new visitors get the most popular items. Each segment is a set of weights over the same signals; shown here are the top three weights per segment. Every segment’s weights sum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signal is a number between 0 and 1, computed for all 10,000 products at once with NumPy. The segment’s weights combine them into one score. The guardrails exist because a small local model does not always follow instructions: in testing, llama3 sometimes picked three items from one category, so coverage is enforced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for SQLite as long-term memory. Besides the customer and product tables, the agents keep four memory tables. Feedback weights are simple and transparent: a purchase counts +2, a click +1, an ignore −1 per product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for every customer we hide their last purchase, recommend three products from the rest of their history, and check whether we recovered it. The multi-agent ranking finds the exact product type 44.5% of the time, against 12.3% for a popularity list. Be candid about the category number: in this synthetic dataset every browsed category has exactly one purchase, so the hidden item always sits in the one category the shopper browsed but has not bought from, and that is precisely the signal we boost. Within a category the product type looks random in the data, so about 46% is the best achievable.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is from the recorded demo. Customer C1001 browsed Books, Fitness and Fashion. After buying the recommended biography and ignoring the jeans, the next request swaps in a different biography, keeps fitness, and replaces jeans with shoes so fashion is still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agent framework: four plain classes sharing one SQLite connection, so the code is easy to follow and test. Every LLM call has a fallback, so the system still works if Ollama is not running. The test suite uses a fake LLM, including one that returns invented product IDs and one that is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brief’s four goals maps to a concrete behaviour in the system. We have not measured business uplift; that needs live traffic and an A/B test, which is the first next step. The privacy point matters for retail: the whole pipeline, including the LLM, runs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next steps: prove business impact with an A/B test, learn the segment weights from the feedback we already log, and use real product descriptions so semantic matching carries more weight. Then introduce the team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70"/>
                </a:solidFill>
                <a:latin typeface="Arial" pitchFamily="34" charset="0"/>
                <a:ea typeface="Arial" pitchFamily="34" charset="-122"/>
                <a:cs typeface="Arial" pitchFamily="34" charset="-120"/>
              </a:rPr>
              <a:t>HACK THE FUTURE: A GEN AI SPRINT · PROBLEM STATEMENT 2</a:t>
            </a:r>
            <a:endParaRPr lang="en-US" sz="1200" dirty="0"/>
          </a:p>
        </p:txBody>
      </p:sp>
      <p:sp>
        <p:nvSpPr>
          <p:cNvPr id="3" name="Text 1"/>
          <p:cNvSpPr/>
          <p:nvPr>
            <p:ph type="title"/>
          </p:nvPr>
        </p:nvSpPr>
        <p:spPr>
          <a:xfrm>
            <a:off x="812800" y="238640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Arial" pitchFamily="34" charset="0"/>
                <a:ea typeface="Arial" pitchFamily="34" charset="-122"/>
                <a:cs typeface="Arial" pitchFamily="34" charset="-120"/>
              </a:rPr>
              <a:t>Smart Shopping</a:t>
            </a:r>
            <a:endParaRPr lang="en-US" sz="6000" dirty="0"/>
          </a:p>
        </p:txBody>
      </p:sp>
      <p:sp>
        <p:nvSpPr>
          <p:cNvPr id="4" name="Text 2"/>
          <p:cNvSpPr/>
          <p:nvPr/>
        </p:nvSpPr>
        <p:spPr>
          <a:xfrm>
            <a:off x="812800" y="3389709"/>
            <a:ext cx="85026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6"/>
                </a:solidFill>
                <a:latin typeface="Arial" pitchFamily="34" charset="0"/>
                <a:ea typeface="Arial" pitchFamily="34" charset="-122"/>
                <a:cs typeface="Arial" pitchFamily="34" charset="-120"/>
              </a:rPr>
              <a:t>A multi-agent system that delivers hyper-personalized product recommendations, running entirely on-prem.</a:t>
            </a:r>
            <a:endParaRPr lang="en-US" sz="2200" dirty="0"/>
          </a:p>
        </p:txBody>
      </p:sp>
      <p:sp>
        <p:nvSpPr>
          <p:cNvPr id="5" name="Text 3"/>
          <p:cNvSpPr/>
          <p:nvPr/>
        </p:nvSpPr>
        <p:spPr>
          <a:xfrm>
            <a:off x="819150" y="5482630"/>
            <a:ext cx="1291530" cy="353020"/>
          </a:xfrm>
          <a:prstGeom prst="roundRect">
            <a:avLst>
              <a:gd name="adj" fmla="val 50000"/>
            </a:avLst>
          </a:prstGeom>
          <a:noFill/>
          <a:ln w="12700">
            <a:solidFill>
              <a:srgbClr val="4A5A80"/>
            </a:solidFill>
            <a:prstDash val="solid"/>
          </a:ln>
        </p:spPr>
        <p:txBody>
          <a:bodyPr wrap="none" lIns="0" tIns="0" rIns="0" bIns="0" rtlCol="0" anchor="ctr">
            <a:normAutofit/>
          </a:bodyPr>
          <a:lstStyle/>
          <a:p>
            <a:pPr algn="ctr" indent="0" marL="0">
              <a:lnSpc>
                <a:spcPts val="1680"/>
              </a:lnSpc>
              <a:buNone/>
            </a:pPr>
            <a:r>
              <a:rPr lang="en-US" sz="1200" dirty="0">
                <a:solidFill>
                  <a:srgbClr val="C9D3E6"/>
                </a:solidFill>
                <a:latin typeface="Arial" pitchFamily="34" charset="0"/>
                <a:ea typeface="Arial" pitchFamily="34" charset="-122"/>
                <a:cs typeface="Arial" pitchFamily="34" charset="-120"/>
              </a:rPr>
              <a:t>Ollama llama3</a:t>
            </a:r>
            <a:endParaRPr lang="en-US" sz="1200" dirty="0"/>
          </a:p>
        </p:txBody>
      </p:sp>
      <p:sp>
        <p:nvSpPr>
          <p:cNvPr id="6" name="Text 4"/>
          <p:cNvSpPr/>
          <p:nvPr/>
        </p:nvSpPr>
        <p:spPr>
          <a:xfrm>
            <a:off x="2224980" y="5482630"/>
            <a:ext cx="1537196" cy="353020"/>
          </a:xfrm>
          <a:prstGeom prst="roundRect">
            <a:avLst>
              <a:gd name="adj" fmla="val 50000"/>
            </a:avLst>
          </a:prstGeom>
          <a:noFill/>
          <a:ln w="12700">
            <a:solidFill>
              <a:srgbClr val="4A5A80"/>
            </a:solidFill>
            <a:prstDash val="solid"/>
          </a:ln>
        </p:spPr>
        <p:txBody>
          <a:bodyPr wrap="none" lIns="0" tIns="0" rIns="0" bIns="0" rtlCol="0" anchor="ctr">
            <a:normAutofit/>
          </a:bodyPr>
          <a:lstStyle/>
          <a:p>
            <a:pPr algn="ctr" indent="0" marL="0">
              <a:lnSpc>
                <a:spcPts val="1680"/>
              </a:lnSpc>
              <a:buNone/>
            </a:pPr>
            <a:r>
              <a:rPr lang="en-US" sz="1200" dirty="0">
                <a:solidFill>
                  <a:srgbClr val="C9D3E6"/>
                </a:solidFill>
                <a:latin typeface="Arial" pitchFamily="34" charset="0"/>
                <a:ea typeface="Arial" pitchFamily="34" charset="-122"/>
                <a:cs typeface="Arial" pitchFamily="34" charset="-120"/>
              </a:rPr>
              <a:t>nomic-embed-text</a:t>
            </a:r>
            <a:endParaRPr lang="en-US" sz="1200" dirty="0"/>
          </a:p>
        </p:txBody>
      </p:sp>
      <p:sp>
        <p:nvSpPr>
          <p:cNvPr id="7" name="Text 5"/>
          <p:cNvSpPr/>
          <p:nvPr/>
        </p:nvSpPr>
        <p:spPr>
          <a:xfrm>
            <a:off x="3876477" y="5482630"/>
            <a:ext cx="2062163" cy="353020"/>
          </a:xfrm>
          <a:prstGeom prst="roundRect">
            <a:avLst>
              <a:gd name="adj" fmla="val 50000"/>
            </a:avLst>
          </a:prstGeom>
          <a:noFill/>
          <a:ln w="12700">
            <a:solidFill>
              <a:srgbClr val="4A5A80"/>
            </a:solidFill>
            <a:prstDash val="solid"/>
          </a:ln>
        </p:spPr>
        <p:txBody>
          <a:bodyPr wrap="none" lIns="0" tIns="0" rIns="0" bIns="0" rtlCol="0" anchor="ctr">
            <a:normAutofit/>
          </a:bodyPr>
          <a:lstStyle/>
          <a:p>
            <a:pPr algn="ctr" indent="0" marL="0">
              <a:lnSpc>
                <a:spcPts val="1680"/>
              </a:lnSpc>
              <a:buNone/>
            </a:pPr>
            <a:r>
              <a:rPr lang="en-US" sz="1200" dirty="0">
                <a:solidFill>
                  <a:srgbClr val="C9D3E6"/>
                </a:solidFill>
                <a:latin typeface="Arial" pitchFamily="34" charset="0"/>
                <a:ea typeface="Arial" pitchFamily="34" charset="-122"/>
                <a:cs typeface="Arial" pitchFamily="34" charset="-120"/>
              </a:rPr>
              <a:t>SQLite long-term memory</a:t>
            </a:r>
            <a:endParaRPr lang="en-US" sz="1200" dirty="0"/>
          </a:p>
        </p:txBody>
      </p:sp>
      <p:sp>
        <p:nvSpPr>
          <p:cNvPr id="8" name="Text 6"/>
          <p:cNvSpPr/>
          <p:nvPr/>
        </p:nvSpPr>
        <p:spPr>
          <a:xfrm>
            <a:off x="6052939" y="5482630"/>
            <a:ext cx="1291530" cy="353020"/>
          </a:xfrm>
          <a:prstGeom prst="roundRect">
            <a:avLst>
              <a:gd name="adj" fmla="val 50000"/>
            </a:avLst>
          </a:prstGeom>
          <a:noFill/>
          <a:ln w="12700">
            <a:solidFill>
              <a:srgbClr val="4A5A80"/>
            </a:solidFill>
            <a:prstDash val="solid"/>
          </a:ln>
        </p:spPr>
        <p:txBody>
          <a:bodyPr wrap="none" lIns="0" tIns="0" rIns="0" bIns="0" rtlCol="0" anchor="ctr">
            <a:normAutofit/>
          </a:bodyPr>
          <a:lstStyle/>
          <a:p>
            <a:pPr algn="ctr" indent="0" marL="0">
              <a:lnSpc>
                <a:spcPts val="1680"/>
              </a:lnSpc>
              <a:buNone/>
            </a:pPr>
            <a:r>
              <a:rPr lang="en-US" sz="1200" dirty="0">
                <a:solidFill>
                  <a:srgbClr val="C9D3E6"/>
                </a:solidFill>
                <a:latin typeface="Arial" pitchFamily="34" charset="0"/>
                <a:ea typeface="Arial" pitchFamily="34" charset="-122"/>
                <a:cs typeface="Arial" pitchFamily="34" charset="-120"/>
              </a:rPr>
              <a:t>Python · Flask</a:t>
            </a:r>
            <a:endParaRPr lang="en-US" sz="12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8"/>
                </a:solidFill>
                <a:latin typeface="Arial" pitchFamily="34" charset="0"/>
                <a:ea typeface="Arial" pitchFamily="34" charset="-122"/>
                <a:cs typeface="Arial" pitchFamily="34" charset="-120"/>
              </a:rPr>
              <a:t>[Team name] · [Team members]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Today, personalization is done by hand</a:t>
            </a:r>
            <a:endParaRPr lang="en-US" sz="3600" dirty="0"/>
          </a:p>
        </p:txBody>
      </p:sp>
      <p:sp>
        <p:nvSpPr>
          <p:cNvPr id="4" name="Text 2"/>
          <p:cNvSpPr/>
          <p:nvPr/>
        </p:nvSpPr>
        <p:spPr>
          <a:xfrm>
            <a:off x="812800" y="198616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Current process</a:t>
            </a:r>
            <a:endParaRPr lang="en-US" sz="1600" dirty="0"/>
          </a:p>
        </p:txBody>
      </p:sp>
      <p:sp>
        <p:nvSpPr>
          <p:cNvPr id="5" name="Shape 3"/>
          <p:cNvSpPr/>
          <p:nvPr/>
        </p:nvSpPr>
        <p:spPr>
          <a:xfrm>
            <a:off x="815975" y="2385516"/>
            <a:ext cx="5124450" cy="1200051"/>
          </a:xfrm>
          <a:prstGeom prst="roundRect">
            <a:avLst>
              <a:gd name="adj" fmla="val 8202"/>
            </a:avLst>
          </a:prstGeom>
          <a:solidFill>
            <a:srgbClr val="FFFFFF"/>
          </a:solidFill>
          <a:ln w="6350">
            <a:solidFill>
              <a:srgbClr val="E2E0D8"/>
            </a:solidFill>
            <a:prstDash val="solid"/>
          </a:ln>
        </p:spPr>
      </p:sp>
      <p:sp>
        <p:nvSpPr>
          <p:cNvPr id="6" name="Text 4"/>
          <p:cNvSpPr/>
          <p:nvPr/>
        </p:nvSpPr>
        <p:spPr>
          <a:xfrm>
            <a:off x="1022350" y="2591891"/>
            <a:ext cx="48530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1. Collect and segment</a:t>
            </a:r>
            <a:endParaRPr lang="en-US" sz="1600" dirty="0"/>
          </a:p>
        </p:txBody>
      </p:sp>
      <p:sp>
        <p:nvSpPr>
          <p:cNvPr id="7" name="Text 5"/>
          <p:cNvSpPr/>
          <p:nvPr/>
        </p:nvSpPr>
        <p:spPr>
          <a:xfrm>
            <a:off x="1022350" y="2952552"/>
            <a:ext cx="48530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Browsing, purchase and demographic data sit in spreadsheets or databases; teams segment customers manually.</a:t>
            </a:r>
            <a:endParaRPr lang="en-US" sz="1200" dirty="0"/>
          </a:p>
        </p:txBody>
      </p:sp>
      <p:sp>
        <p:nvSpPr>
          <p:cNvPr id="8" name="Shape 6"/>
          <p:cNvSpPr/>
          <p:nvPr/>
        </p:nvSpPr>
        <p:spPr>
          <a:xfrm>
            <a:off x="815975" y="3744317"/>
            <a:ext cx="5124450" cy="1200051"/>
          </a:xfrm>
          <a:prstGeom prst="roundRect">
            <a:avLst>
              <a:gd name="adj" fmla="val 8202"/>
            </a:avLst>
          </a:prstGeom>
          <a:solidFill>
            <a:srgbClr val="FFFFFF"/>
          </a:solidFill>
          <a:ln w="6350">
            <a:solidFill>
              <a:srgbClr val="E2E0D8"/>
            </a:solidFill>
            <a:prstDash val="solid"/>
          </a:ln>
        </p:spPr>
      </p:sp>
      <p:sp>
        <p:nvSpPr>
          <p:cNvPr id="9" name="Text 7"/>
          <p:cNvSpPr/>
          <p:nvPr/>
        </p:nvSpPr>
        <p:spPr>
          <a:xfrm>
            <a:off x="1022350" y="3950692"/>
            <a:ext cx="485305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2. Pick products per segment</a:t>
            </a:r>
            <a:endParaRPr lang="en-US" sz="1600" dirty="0"/>
          </a:p>
        </p:txBody>
      </p:sp>
      <p:sp>
        <p:nvSpPr>
          <p:cNvPr id="10" name="Text 8"/>
          <p:cNvSpPr/>
          <p:nvPr/>
        </p:nvSpPr>
        <p:spPr>
          <a:xfrm>
            <a:off x="1022350" y="4311352"/>
            <a:ext cx="48530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Marketing chooses what each segment sees, so every customer in a segment gets the same list.</a:t>
            </a:r>
            <a:endParaRPr lang="en-US" sz="1200" dirty="0"/>
          </a:p>
        </p:txBody>
      </p:sp>
      <p:sp>
        <p:nvSpPr>
          <p:cNvPr id="11" name="Text 9"/>
          <p:cNvSpPr/>
          <p:nvPr/>
        </p:nvSpPr>
        <p:spPr>
          <a:xfrm>
            <a:off x="6248400" y="1986161"/>
            <a:ext cx="528472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What the business wants</a:t>
            </a:r>
            <a:endParaRPr lang="en-US" sz="1600" dirty="0"/>
          </a:p>
        </p:txBody>
      </p:sp>
      <p:sp>
        <p:nvSpPr>
          <p:cNvPr id="12" name="Shape 10"/>
          <p:cNvSpPr/>
          <p:nvPr/>
        </p:nvSpPr>
        <p:spPr>
          <a:xfrm>
            <a:off x="6248400" y="2382341"/>
            <a:ext cx="2489200" cy="1046460"/>
          </a:xfrm>
          <a:prstGeom prst="roundRect">
            <a:avLst>
              <a:gd name="adj" fmla="val 9709"/>
            </a:avLst>
          </a:prstGeom>
          <a:solidFill>
            <a:srgbClr val="ECEBFD"/>
          </a:solidFill>
          <a:ln/>
        </p:spPr>
      </p:sp>
      <p:pic>
        <p:nvPicPr>
          <p:cNvPr id="13" name="Image 0" descr="ThumbsUp">    </p:cNvPr>
          <p:cNvPicPr>
            <a:picLocks noChangeAspect="1"/>
          </p:cNvPicPr>
          <p:nvPr/>
        </p:nvPicPr>
        <p:blipFill>
          <a:blip r:embed="rId1"/>
          <a:srcRect l="0" r="0" t="0" b="0"/>
          <a:stretch/>
        </p:blipFill>
        <p:spPr>
          <a:xfrm>
            <a:off x="6451600" y="2585541"/>
            <a:ext cx="304800" cy="304800"/>
          </a:xfrm>
          <a:prstGeom prst="rect">
            <a:avLst/>
          </a:prstGeom>
        </p:spPr>
      </p:pic>
      <p:sp>
        <p:nvSpPr>
          <p:cNvPr id="14" name="Text 11"/>
          <p:cNvSpPr/>
          <p:nvPr/>
        </p:nvSpPr>
        <p:spPr>
          <a:xfrm>
            <a:off x="6451600" y="2941141"/>
            <a:ext cx="21452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Engagement</a:t>
            </a:r>
            <a:endParaRPr lang="en-US" sz="1600" dirty="0"/>
          </a:p>
        </p:txBody>
      </p:sp>
      <p:sp>
        <p:nvSpPr>
          <p:cNvPr id="15" name="Shape 12"/>
          <p:cNvSpPr/>
          <p:nvPr/>
        </p:nvSpPr>
        <p:spPr>
          <a:xfrm>
            <a:off x="8890000" y="2382341"/>
            <a:ext cx="2489200" cy="1046460"/>
          </a:xfrm>
          <a:prstGeom prst="roundRect">
            <a:avLst>
              <a:gd name="adj" fmla="val 9709"/>
            </a:avLst>
          </a:prstGeom>
          <a:solidFill>
            <a:srgbClr val="ECEBFD"/>
          </a:solidFill>
          <a:ln/>
        </p:spPr>
      </p:sp>
      <p:pic>
        <p:nvPicPr>
          <p:cNvPr id="16" name="Image 1" descr="Chart">    </p:cNvPr>
          <p:cNvPicPr>
            <a:picLocks noChangeAspect="1"/>
          </p:cNvPicPr>
          <p:nvPr/>
        </p:nvPicPr>
        <p:blipFill>
          <a:blip r:embed="rId2"/>
          <a:srcRect l="0" r="0" t="0" b="0"/>
          <a:stretch/>
        </p:blipFill>
        <p:spPr>
          <a:xfrm>
            <a:off x="9093200" y="2585541"/>
            <a:ext cx="304800" cy="304800"/>
          </a:xfrm>
          <a:prstGeom prst="rect">
            <a:avLst/>
          </a:prstGeom>
        </p:spPr>
      </p:pic>
      <p:sp>
        <p:nvSpPr>
          <p:cNvPr id="17" name="Text 13"/>
          <p:cNvSpPr/>
          <p:nvPr/>
        </p:nvSpPr>
        <p:spPr>
          <a:xfrm>
            <a:off x="9093200" y="2941141"/>
            <a:ext cx="21452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Order value</a:t>
            </a:r>
            <a:endParaRPr lang="en-US" sz="1600" dirty="0"/>
          </a:p>
        </p:txBody>
      </p:sp>
      <p:sp>
        <p:nvSpPr>
          <p:cNvPr id="18" name="Shape 14"/>
          <p:cNvSpPr/>
          <p:nvPr/>
        </p:nvSpPr>
        <p:spPr>
          <a:xfrm>
            <a:off x="6248400" y="3581202"/>
            <a:ext cx="2489200" cy="1046460"/>
          </a:xfrm>
          <a:prstGeom prst="roundRect">
            <a:avLst>
              <a:gd name="adj" fmla="val 9709"/>
            </a:avLst>
          </a:prstGeom>
          <a:solidFill>
            <a:srgbClr val="ECEBFD"/>
          </a:solidFill>
          <a:ln/>
        </p:spPr>
      </p:sp>
      <p:pic>
        <p:nvPicPr>
          <p:cNvPr id="19" name="Image 2" descr="Users">    </p:cNvPr>
          <p:cNvPicPr>
            <a:picLocks noChangeAspect="1"/>
          </p:cNvPicPr>
          <p:nvPr/>
        </p:nvPicPr>
        <p:blipFill>
          <a:blip r:embed="rId3"/>
          <a:srcRect l="0" r="0" t="0" b="0"/>
          <a:stretch/>
        </p:blipFill>
        <p:spPr>
          <a:xfrm>
            <a:off x="6451600" y="3784402"/>
            <a:ext cx="304800" cy="304800"/>
          </a:xfrm>
          <a:prstGeom prst="rect">
            <a:avLst/>
          </a:prstGeom>
        </p:spPr>
      </p:pic>
      <p:sp>
        <p:nvSpPr>
          <p:cNvPr id="20" name="Text 15"/>
          <p:cNvSpPr/>
          <p:nvPr/>
        </p:nvSpPr>
        <p:spPr>
          <a:xfrm>
            <a:off x="6451600" y="4140002"/>
            <a:ext cx="21452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Retention</a:t>
            </a:r>
            <a:endParaRPr lang="en-US" sz="1600" dirty="0"/>
          </a:p>
        </p:txBody>
      </p:sp>
      <p:sp>
        <p:nvSpPr>
          <p:cNvPr id="21" name="Shape 16"/>
          <p:cNvSpPr/>
          <p:nvPr/>
        </p:nvSpPr>
        <p:spPr>
          <a:xfrm>
            <a:off x="8890000" y="3581202"/>
            <a:ext cx="2489200" cy="1046460"/>
          </a:xfrm>
          <a:prstGeom prst="roundRect">
            <a:avLst>
              <a:gd name="adj" fmla="val 9709"/>
            </a:avLst>
          </a:prstGeom>
          <a:solidFill>
            <a:srgbClr val="ECEBFD"/>
          </a:solidFill>
          <a:ln/>
        </p:spPr>
      </p:sp>
      <p:pic>
        <p:nvPicPr>
          <p:cNvPr id="22" name="Image 3" descr="CheckCircle">    </p:cNvPr>
          <p:cNvPicPr>
            <a:picLocks noChangeAspect="1"/>
          </p:cNvPicPr>
          <p:nvPr/>
        </p:nvPicPr>
        <p:blipFill>
          <a:blip r:embed="rId4"/>
          <a:srcRect l="0" r="0" t="0" b="0"/>
          <a:stretch/>
        </p:blipFill>
        <p:spPr>
          <a:xfrm>
            <a:off x="9093200" y="3784402"/>
            <a:ext cx="304800" cy="304800"/>
          </a:xfrm>
          <a:prstGeom prst="rect">
            <a:avLst/>
          </a:prstGeom>
        </p:spPr>
      </p:pic>
      <p:sp>
        <p:nvSpPr>
          <p:cNvPr id="23" name="Text 17"/>
          <p:cNvSpPr/>
          <p:nvPr/>
        </p:nvSpPr>
        <p:spPr>
          <a:xfrm>
            <a:off x="9093200" y="4140002"/>
            <a:ext cx="21452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Conversion</a:t>
            </a:r>
            <a:endParaRPr lang="en-US" sz="1600" dirty="0"/>
          </a:p>
        </p:txBody>
      </p:sp>
      <p:sp>
        <p:nvSpPr>
          <p:cNvPr id="24"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Arial" pitchFamily="34" charset="0"/>
                <a:ea typeface="Arial" pitchFamily="34" charset="-122"/>
                <a:cs typeface="Arial" pitchFamily="34" charset="-120"/>
              </a:rPr>
              <a:t>Dataset: 10,000 synthetic customers × 10,000 products across 6 categories and 24 product types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F46E5"/>
        </a:solidFill>
      </p:bgPr>
    </p:bg>
    <p:spTree>
      <p:nvGrpSpPr>
        <p:cNvPr id="1" name=""/>
        <p:cNvGrpSpPr/>
        <p:nvPr/>
      </p:nvGrpSpPr>
      <p:grpSpPr>
        <a:xfrm>
          <a:off x="0" y="0"/>
          <a:ext cx="0" cy="0"/>
          <a:chOff x="0" y="0"/>
          <a:chExt cx="0" cy="0"/>
        </a:xfrm>
      </p:grpSpPr>
      <p:sp>
        <p:nvSpPr>
          <p:cNvPr id="2" name="Text 0"/>
          <p:cNvSpPr/>
          <p:nvPr/>
        </p:nvSpPr>
        <p:spPr>
          <a:xfrm>
            <a:off x="812800" y="19443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9DCFF"/>
                </a:solidFill>
                <a:latin typeface="Arial" pitchFamily="34" charset="0"/>
                <a:ea typeface="Arial" pitchFamily="34" charset="-122"/>
                <a:cs typeface="Arial" pitchFamily="34" charset="-120"/>
              </a:rPr>
              <a:t>OUR APPROACH</a:t>
            </a:r>
            <a:endParaRPr lang="en-US" sz="1200" dirty="0"/>
          </a:p>
        </p:txBody>
      </p:sp>
      <p:sp>
        <p:nvSpPr>
          <p:cNvPr id="3" name="Text 1"/>
          <p:cNvSpPr/>
          <p:nvPr>
            <p:ph type="title"/>
          </p:nvPr>
        </p:nvSpPr>
        <p:spPr>
          <a:xfrm>
            <a:off x="812800" y="2462510"/>
            <a:ext cx="9810750" cy="16026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7F6F2"/>
                </a:solidFill>
                <a:latin typeface="Arial" pitchFamily="34" charset="0"/>
                <a:ea typeface="Arial" pitchFamily="34" charset="-122"/>
                <a:cs typeface="Arial" pitchFamily="34" charset="-120"/>
              </a:rPr>
              <a:t>Four agents share one SQLite memory. The LLM reads a shortlist of 12 products, never the whole 10,000.</a:t>
            </a:r>
            <a:endParaRPr lang="en-US" sz="3600" dirty="0"/>
          </a:p>
        </p:txBody>
      </p:sp>
      <p:sp>
        <p:nvSpPr>
          <p:cNvPr id="4" name="Text 2"/>
          <p:cNvSpPr/>
          <p:nvPr/>
        </p:nvSpPr>
        <p:spPr>
          <a:xfrm>
            <a:off x="812800" y="4344591"/>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4E6FF"/>
                </a:solidFill>
                <a:latin typeface="Arial" pitchFamily="34" charset="0"/>
                <a:ea typeface="Arial" pitchFamily="34" charset="-122"/>
                <a:cs typeface="Arial" pitchFamily="34" charset="-120"/>
              </a:rPr>
              <a:t>Fast, explainable scoring narrows the catalogue; the language model does what it is good at: choosing among strong options and explaining the choice to the shopper.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AGENT INTERACTION DESIGN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One request, five hand-offs</a:t>
            </a:r>
            <a:endParaRPr lang="en-US" sz="3600" dirty="0"/>
          </a:p>
        </p:txBody>
      </p:sp>
      <p:sp>
        <p:nvSpPr>
          <p:cNvPr id="4" name="Shape 2"/>
          <p:cNvSpPr/>
          <p:nvPr/>
        </p:nvSpPr>
        <p:spPr>
          <a:xfrm>
            <a:off x="815975" y="1938536"/>
            <a:ext cx="1743670" cy="2055813"/>
          </a:xfrm>
          <a:prstGeom prst="roundRect">
            <a:avLst>
              <a:gd name="adj" fmla="val 5645"/>
            </a:avLst>
          </a:prstGeom>
          <a:solidFill>
            <a:srgbClr val="FFFFFF"/>
          </a:solidFill>
          <a:ln w="6350">
            <a:solidFill>
              <a:srgbClr val="E2E0D8"/>
            </a:solidFill>
            <a:prstDash val="solid"/>
          </a:ln>
        </p:spPr>
      </p:sp>
      <p:sp>
        <p:nvSpPr>
          <p:cNvPr id="5" name="Text 3"/>
          <p:cNvSpPr/>
          <p:nvPr/>
        </p:nvSpPr>
        <p:spPr>
          <a:xfrm>
            <a:off x="996950" y="2119511"/>
            <a:ext cx="14325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Arial" pitchFamily="34" charset="0"/>
                <a:ea typeface="Arial" pitchFamily="34" charset="-122"/>
                <a:cs typeface="Arial" pitchFamily="34" charset="-120"/>
              </a:rPr>
              <a:t>STEP 1</a:t>
            </a:r>
            <a:endParaRPr lang="en-US" sz="1200" dirty="0"/>
          </a:p>
        </p:txBody>
      </p:sp>
      <p:sp>
        <p:nvSpPr>
          <p:cNvPr id="6" name="Text 4"/>
          <p:cNvSpPr/>
          <p:nvPr/>
        </p:nvSpPr>
        <p:spPr>
          <a:xfrm>
            <a:off x="996950" y="2409031"/>
            <a:ext cx="143252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Customer Agent</a:t>
            </a:r>
            <a:endParaRPr lang="en-US" sz="1600" dirty="0"/>
          </a:p>
        </p:txBody>
      </p:sp>
      <p:sp>
        <p:nvSpPr>
          <p:cNvPr id="7" name="Text 5"/>
          <p:cNvSpPr/>
          <p:nvPr/>
        </p:nvSpPr>
        <p:spPr>
          <a:xfrm>
            <a:off x="996950" y="2972792"/>
            <a:ext cx="1432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Loads the profile and picks the segment strategy</a:t>
            </a:r>
            <a:endParaRPr lang="en-US" sz="1200" dirty="0"/>
          </a:p>
        </p:txBody>
      </p:sp>
      <p:pic>
        <p:nvPicPr>
          <p:cNvPr id="8" name="Image 0" descr="arrow-right">    </p:cNvPr>
          <p:cNvPicPr>
            <a:picLocks noChangeAspect="1"/>
          </p:cNvPicPr>
          <p:nvPr/>
        </p:nvPicPr>
        <p:blipFill>
          <a:blip r:embed="rId1"/>
          <a:srcRect l="0" r="0" t="0" b="0"/>
          <a:stretch/>
        </p:blipFill>
        <p:spPr>
          <a:xfrm>
            <a:off x="2664420" y="2890242"/>
            <a:ext cx="254000" cy="152400"/>
          </a:xfrm>
          <a:prstGeom prst="rect">
            <a:avLst/>
          </a:prstGeom>
        </p:spPr>
      </p:pic>
      <p:sp>
        <p:nvSpPr>
          <p:cNvPr id="9" name="Shape 6"/>
          <p:cNvSpPr/>
          <p:nvPr/>
        </p:nvSpPr>
        <p:spPr>
          <a:xfrm>
            <a:off x="3023195" y="1938536"/>
            <a:ext cx="1743770" cy="2055813"/>
          </a:xfrm>
          <a:prstGeom prst="roundRect">
            <a:avLst>
              <a:gd name="adj" fmla="val 5644"/>
            </a:avLst>
          </a:prstGeom>
          <a:solidFill>
            <a:srgbClr val="FFFFFF"/>
          </a:solidFill>
          <a:ln w="6350">
            <a:solidFill>
              <a:srgbClr val="E2E0D8"/>
            </a:solidFill>
            <a:prstDash val="solid"/>
          </a:ln>
        </p:spPr>
      </p:sp>
      <p:sp>
        <p:nvSpPr>
          <p:cNvPr id="10" name="Text 7"/>
          <p:cNvSpPr/>
          <p:nvPr/>
        </p:nvSpPr>
        <p:spPr>
          <a:xfrm>
            <a:off x="3204170" y="2119511"/>
            <a:ext cx="14326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Arial" pitchFamily="34" charset="0"/>
                <a:ea typeface="Arial" pitchFamily="34" charset="-122"/>
                <a:cs typeface="Arial" pitchFamily="34" charset="-120"/>
              </a:rPr>
              <a:t>STEP 2</a:t>
            </a:r>
            <a:endParaRPr lang="en-US" sz="1200" dirty="0"/>
          </a:p>
        </p:txBody>
      </p:sp>
      <p:sp>
        <p:nvSpPr>
          <p:cNvPr id="11" name="Text 8"/>
          <p:cNvSpPr/>
          <p:nvPr/>
        </p:nvSpPr>
        <p:spPr>
          <a:xfrm>
            <a:off x="3204170" y="2409031"/>
            <a:ext cx="143262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Feedback Agent</a:t>
            </a:r>
            <a:endParaRPr lang="en-US" sz="1600" dirty="0"/>
          </a:p>
        </p:txBody>
      </p:sp>
      <p:sp>
        <p:nvSpPr>
          <p:cNvPr id="12" name="Text 9"/>
          <p:cNvSpPr/>
          <p:nvPr/>
        </p:nvSpPr>
        <p:spPr>
          <a:xfrm>
            <a:off x="3204170" y="2972792"/>
            <a:ext cx="14326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Recalls likes, dislikes and products to hide</a:t>
            </a:r>
            <a:endParaRPr lang="en-US" sz="1200" dirty="0"/>
          </a:p>
        </p:txBody>
      </p:sp>
      <p:pic>
        <p:nvPicPr>
          <p:cNvPr id="13" name="Image 1" descr="arrow-right">    </p:cNvPr>
          <p:cNvPicPr>
            <a:picLocks noChangeAspect="1"/>
          </p:cNvPicPr>
          <p:nvPr/>
        </p:nvPicPr>
        <p:blipFill>
          <a:blip r:embed="rId2"/>
          <a:srcRect l="0" r="0" t="0" b="0"/>
          <a:stretch/>
        </p:blipFill>
        <p:spPr>
          <a:xfrm>
            <a:off x="4871740" y="2890242"/>
            <a:ext cx="254000" cy="152400"/>
          </a:xfrm>
          <a:prstGeom prst="rect">
            <a:avLst/>
          </a:prstGeom>
        </p:spPr>
      </p:pic>
      <p:sp>
        <p:nvSpPr>
          <p:cNvPr id="14" name="Shape 10"/>
          <p:cNvSpPr/>
          <p:nvPr/>
        </p:nvSpPr>
        <p:spPr>
          <a:xfrm>
            <a:off x="5230515" y="1938536"/>
            <a:ext cx="1743670" cy="2055813"/>
          </a:xfrm>
          <a:prstGeom prst="roundRect">
            <a:avLst>
              <a:gd name="adj" fmla="val 5645"/>
            </a:avLst>
          </a:prstGeom>
          <a:solidFill>
            <a:srgbClr val="FFFFFF"/>
          </a:solidFill>
          <a:ln w="6350">
            <a:solidFill>
              <a:srgbClr val="E2E0D8"/>
            </a:solidFill>
            <a:prstDash val="solid"/>
          </a:ln>
        </p:spPr>
      </p:sp>
      <p:sp>
        <p:nvSpPr>
          <p:cNvPr id="15" name="Text 11"/>
          <p:cNvSpPr/>
          <p:nvPr/>
        </p:nvSpPr>
        <p:spPr>
          <a:xfrm>
            <a:off x="5411490" y="2119511"/>
            <a:ext cx="14325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Arial" pitchFamily="34" charset="0"/>
                <a:ea typeface="Arial" pitchFamily="34" charset="-122"/>
                <a:cs typeface="Arial" pitchFamily="34" charset="-120"/>
              </a:rPr>
              <a:t>STEP 3</a:t>
            </a:r>
            <a:endParaRPr lang="en-US" sz="1200" dirty="0"/>
          </a:p>
        </p:txBody>
      </p:sp>
      <p:sp>
        <p:nvSpPr>
          <p:cNvPr id="16" name="Text 12"/>
          <p:cNvSpPr/>
          <p:nvPr/>
        </p:nvSpPr>
        <p:spPr>
          <a:xfrm>
            <a:off x="5411490" y="2409031"/>
            <a:ext cx="143252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Customer Agent + LLM</a:t>
            </a:r>
            <a:endParaRPr lang="en-US" sz="1600" dirty="0"/>
          </a:p>
        </p:txBody>
      </p:sp>
      <p:sp>
        <p:nvSpPr>
          <p:cNvPr id="17" name="Text 13"/>
          <p:cNvSpPr/>
          <p:nvPr/>
        </p:nvSpPr>
        <p:spPr>
          <a:xfrm>
            <a:off x="5411490" y="2972792"/>
            <a:ext cx="14325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Writes a preference summary, cached in memory</a:t>
            </a:r>
            <a:endParaRPr lang="en-US" sz="1200" dirty="0"/>
          </a:p>
        </p:txBody>
      </p:sp>
      <p:pic>
        <p:nvPicPr>
          <p:cNvPr id="18" name="Image 2" descr="arrow-right">    </p:cNvPr>
          <p:cNvPicPr>
            <a:picLocks noChangeAspect="1"/>
          </p:cNvPicPr>
          <p:nvPr/>
        </p:nvPicPr>
        <p:blipFill>
          <a:blip r:embed="rId3"/>
          <a:srcRect l="0" r="0" t="0" b="0"/>
          <a:stretch/>
        </p:blipFill>
        <p:spPr>
          <a:xfrm>
            <a:off x="7078960" y="2890242"/>
            <a:ext cx="254000" cy="152400"/>
          </a:xfrm>
          <a:prstGeom prst="rect">
            <a:avLst/>
          </a:prstGeom>
        </p:spPr>
      </p:pic>
      <p:sp>
        <p:nvSpPr>
          <p:cNvPr id="19" name="Shape 14"/>
          <p:cNvSpPr/>
          <p:nvPr/>
        </p:nvSpPr>
        <p:spPr>
          <a:xfrm>
            <a:off x="7437735" y="1938536"/>
            <a:ext cx="1743770" cy="2055813"/>
          </a:xfrm>
          <a:prstGeom prst="roundRect">
            <a:avLst>
              <a:gd name="adj" fmla="val 5644"/>
            </a:avLst>
          </a:prstGeom>
          <a:solidFill>
            <a:srgbClr val="FFFFFF"/>
          </a:solidFill>
          <a:ln w="6350">
            <a:solidFill>
              <a:srgbClr val="E2E0D8"/>
            </a:solidFill>
            <a:prstDash val="solid"/>
          </a:ln>
        </p:spPr>
      </p:sp>
      <p:sp>
        <p:nvSpPr>
          <p:cNvPr id="20" name="Text 15"/>
          <p:cNvSpPr/>
          <p:nvPr/>
        </p:nvSpPr>
        <p:spPr>
          <a:xfrm>
            <a:off x="7618710" y="2119511"/>
            <a:ext cx="14326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Arial" pitchFamily="34" charset="0"/>
                <a:ea typeface="Arial" pitchFamily="34" charset="-122"/>
                <a:cs typeface="Arial" pitchFamily="34" charset="-120"/>
              </a:rPr>
              <a:t>STEP 4</a:t>
            </a:r>
            <a:endParaRPr lang="en-US" sz="1200" dirty="0"/>
          </a:p>
        </p:txBody>
      </p:sp>
      <p:sp>
        <p:nvSpPr>
          <p:cNvPr id="21" name="Text 16"/>
          <p:cNvSpPr/>
          <p:nvPr/>
        </p:nvSpPr>
        <p:spPr>
          <a:xfrm>
            <a:off x="7618710" y="2409031"/>
            <a:ext cx="143262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Product Agent</a:t>
            </a:r>
            <a:endParaRPr lang="en-US" sz="1600" dirty="0"/>
          </a:p>
        </p:txBody>
      </p:sp>
      <p:sp>
        <p:nvSpPr>
          <p:cNvPr id="22" name="Text 17"/>
          <p:cNvSpPr/>
          <p:nvPr/>
        </p:nvSpPr>
        <p:spPr>
          <a:xfrm>
            <a:off x="7618710" y="2972792"/>
            <a:ext cx="14326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Scores all 10,000 products, returns a diverse 12</a:t>
            </a:r>
            <a:endParaRPr lang="en-US" sz="1200" dirty="0"/>
          </a:p>
        </p:txBody>
      </p:sp>
      <p:pic>
        <p:nvPicPr>
          <p:cNvPr id="23" name="Image 3" descr="arrow-right">    </p:cNvPr>
          <p:cNvPicPr>
            <a:picLocks noChangeAspect="1"/>
          </p:cNvPicPr>
          <p:nvPr/>
        </p:nvPicPr>
        <p:blipFill>
          <a:blip r:embed="rId4"/>
          <a:srcRect l="0" r="0" t="0" b="0"/>
          <a:stretch/>
        </p:blipFill>
        <p:spPr>
          <a:xfrm>
            <a:off x="9286280" y="2890242"/>
            <a:ext cx="254000" cy="152400"/>
          </a:xfrm>
          <a:prstGeom prst="rect">
            <a:avLst/>
          </a:prstGeom>
        </p:spPr>
      </p:pic>
      <p:sp>
        <p:nvSpPr>
          <p:cNvPr id="24" name="Shape 18"/>
          <p:cNvSpPr/>
          <p:nvPr/>
        </p:nvSpPr>
        <p:spPr>
          <a:xfrm>
            <a:off x="9641880" y="1935361"/>
            <a:ext cx="1737320" cy="2062163"/>
          </a:xfrm>
          <a:prstGeom prst="roundRect">
            <a:avLst>
              <a:gd name="adj" fmla="val 5848"/>
            </a:avLst>
          </a:prstGeom>
          <a:solidFill>
            <a:srgbClr val="14213D"/>
          </a:solidFill>
          <a:ln/>
        </p:spPr>
      </p:sp>
      <p:sp>
        <p:nvSpPr>
          <p:cNvPr id="25" name="Text 19"/>
          <p:cNvSpPr/>
          <p:nvPr/>
        </p:nvSpPr>
        <p:spPr>
          <a:xfrm>
            <a:off x="9819680" y="2113161"/>
            <a:ext cx="14325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0"/>
                </a:solidFill>
                <a:latin typeface="Arial" pitchFamily="34" charset="0"/>
                <a:ea typeface="Arial" pitchFamily="34" charset="-122"/>
                <a:cs typeface="Arial" pitchFamily="34" charset="-120"/>
              </a:rPr>
              <a:t>STEP 5</a:t>
            </a:r>
            <a:endParaRPr lang="en-US" sz="1200" dirty="0"/>
          </a:p>
        </p:txBody>
      </p:sp>
      <p:sp>
        <p:nvSpPr>
          <p:cNvPr id="26" name="Text 20"/>
          <p:cNvSpPr/>
          <p:nvPr/>
        </p:nvSpPr>
        <p:spPr>
          <a:xfrm>
            <a:off x="9819680" y="2402681"/>
            <a:ext cx="1432520"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Recommender + LLM</a:t>
            </a:r>
            <a:endParaRPr lang="en-US" sz="1600" dirty="0"/>
          </a:p>
        </p:txBody>
      </p:sp>
      <p:sp>
        <p:nvSpPr>
          <p:cNvPr id="27" name="Text 21"/>
          <p:cNvSpPr/>
          <p:nvPr/>
        </p:nvSpPr>
        <p:spPr>
          <a:xfrm>
            <a:off x="9819680" y="2966442"/>
            <a:ext cx="143252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Recommendation Agent picks 3, explains each, rejects invented IDs</a:t>
            </a:r>
            <a:endParaRPr lang="en-US" sz="1200" dirty="0"/>
          </a:p>
        </p:txBody>
      </p:sp>
      <p:sp>
        <p:nvSpPr>
          <p:cNvPr id="28" name="Shape 22"/>
          <p:cNvSpPr/>
          <p:nvPr/>
        </p:nvSpPr>
        <p:spPr>
          <a:xfrm>
            <a:off x="812800" y="4302323"/>
            <a:ext cx="10566400" cy="904180"/>
          </a:xfrm>
          <a:prstGeom prst="roundRect">
            <a:avLst>
              <a:gd name="adj" fmla="val 11237"/>
            </a:avLst>
          </a:prstGeom>
          <a:solidFill>
            <a:srgbClr val="ECEBFD"/>
          </a:solidFill>
          <a:ln/>
        </p:spPr>
      </p:sp>
      <p:pic>
        <p:nvPicPr>
          <p:cNvPr id="29" name="Image 4" descr="Database">    </p:cNvPr>
          <p:cNvPicPr>
            <a:picLocks noChangeAspect="1"/>
          </p:cNvPicPr>
          <p:nvPr/>
        </p:nvPicPr>
        <p:blipFill>
          <a:blip r:embed="rId5"/>
          <a:srcRect l="0" r="0" t="0" b="0"/>
          <a:stretch/>
        </p:blipFill>
        <p:spPr>
          <a:xfrm>
            <a:off x="1016000" y="4576564"/>
            <a:ext cx="355600" cy="355600"/>
          </a:xfrm>
          <a:prstGeom prst="rect">
            <a:avLst/>
          </a:prstGeom>
        </p:spPr>
      </p:pic>
      <p:sp>
        <p:nvSpPr>
          <p:cNvPr id="30" name="Text 23"/>
          <p:cNvSpPr/>
          <p:nvPr/>
        </p:nvSpPr>
        <p:spPr>
          <a:xfrm>
            <a:off x="1574800" y="4480123"/>
            <a:ext cx="98892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Arial" pitchFamily="34" charset="0"/>
                <a:ea typeface="Arial" pitchFamily="34" charset="-122"/>
                <a:cs typeface="Arial" pitchFamily="34" charset="-120"/>
              </a:rPr>
              <a:t>SQLite long-term memory</a:t>
            </a:r>
            <a:endParaRPr lang="en-US" sz="1600" dirty="0"/>
          </a:p>
        </p:txBody>
      </p:sp>
      <p:sp>
        <p:nvSpPr>
          <p:cNvPr id="31" name="Text 24"/>
          <p:cNvSpPr/>
          <p:nvPr/>
        </p:nvSpPr>
        <p:spPr>
          <a:xfrm>
            <a:off x="1574800" y="4815384"/>
            <a:ext cx="9889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Every recommendation is logged; each click, purchase or ignore flows back through the Feedback Agent into the next request.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SEGMENT STRATEGIES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Each segment weighs the signals differently</a:t>
            </a:r>
            <a:endParaRPr lang="en-US" sz="3600" dirty="0"/>
          </a:p>
        </p:txBody>
      </p:sp>
      <p:sp>
        <p:nvSpPr>
          <p:cNvPr id="4" name="Shape 2"/>
          <p:cNvSpPr/>
          <p:nvPr/>
        </p:nvSpPr>
        <p:spPr>
          <a:xfrm>
            <a:off x="815975" y="1989336"/>
            <a:ext cx="3380284" cy="2297212"/>
          </a:xfrm>
          <a:prstGeom prst="roundRect">
            <a:avLst>
              <a:gd name="adj" fmla="val 4285"/>
            </a:avLst>
          </a:prstGeom>
          <a:solidFill>
            <a:srgbClr val="FFFFFF"/>
          </a:solidFill>
          <a:ln w="6350">
            <a:solidFill>
              <a:srgbClr val="E2E0D8"/>
            </a:solidFill>
            <a:prstDash val="solid"/>
          </a:ln>
        </p:spPr>
      </p:sp>
      <p:sp>
        <p:nvSpPr>
          <p:cNvPr id="5" name="Text 3"/>
          <p:cNvSpPr/>
          <p:nvPr/>
        </p:nvSpPr>
        <p:spPr>
          <a:xfrm>
            <a:off x="1022350" y="2195711"/>
            <a:ext cx="30565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New Visitor</a:t>
            </a:r>
            <a:endParaRPr lang="en-US" sz="2200" dirty="0"/>
          </a:p>
        </p:txBody>
      </p:sp>
      <p:sp>
        <p:nvSpPr>
          <p:cNvPr id="6" name="Text 4"/>
          <p:cNvSpPr/>
          <p:nvPr/>
        </p:nvSpPr>
        <p:spPr>
          <a:xfrm>
            <a:off x="1022350" y="268337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Little history, so show popular, highly rated items in the categories they browsed.</a:t>
            </a:r>
            <a:endParaRPr lang="en-US" sz="1200" dirty="0"/>
          </a:p>
        </p:txBody>
      </p:sp>
      <p:sp>
        <p:nvSpPr>
          <p:cNvPr id="7" name="Text 5"/>
          <p:cNvSpPr/>
          <p:nvPr/>
        </p:nvSpPr>
        <p:spPr>
          <a:xfrm>
            <a:off x="1022350" y="326241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Popularity 30%</a:t>
            </a:r>
            <a:endParaRPr lang="en-US" sz="1200" dirty="0"/>
          </a:p>
        </p:txBody>
      </p:sp>
      <p:sp>
        <p:nvSpPr>
          <p:cNvPr id="8" name="Shape 6"/>
          <p:cNvSpPr/>
          <p:nvPr/>
        </p:nvSpPr>
        <p:spPr>
          <a:xfrm>
            <a:off x="2520950" y="3305572"/>
            <a:ext cx="1143000" cy="127000"/>
          </a:xfrm>
          <a:prstGeom prst="roundRect">
            <a:avLst>
              <a:gd name="adj" fmla="val 50000"/>
            </a:avLst>
          </a:prstGeom>
          <a:solidFill>
            <a:srgbClr val="4F46E5"/>
          </a:solidFill>
          <a:ln/>
        </p:spPr>
      </p:sp>
      <p:sp>
        <p:nvSpPr>
          <p:cNvPr id="9" name="Text 7"/>
          <p:cNvSpPr/>
          <p:nvPr/>
        </p:nvSpPr>
        <p:spPr>
          <a:xfrm>
            <a:off x="1022350" y="356463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Interest 25%</a:t>
            </a:r>
            <a:endParaRPr lang="en-US" sz="1200" dirty="0"/>
          </a:p>
        </p:txBody>
      </p:sp>
      <p:sp>
        <p:nvSpPr>
          <p:cNvPr id="10" name="Shape 8"/>
          <p:cNvSpPr/>
          <p:nvPr/>
        </p:nvSpPr>
        <p:spPr>
          <a:xfrm>
            <a:off x="2520950" y="3607792"/>
            <a:ext cx="952500" cy="127000"/>
          </a:xfrm>
          <a:prstGeom prst="roundRect">
            <a:avLst>
              <a:gd name="adj" fmla="val 50000"/>
            </a:avLst>
          </a:prstGeom>
          <a:solidFill>
            <a:srgbClr val="4F46E5"/>
          </a:solidFill>
          <a:ln/>
        </p:spPr>
      </p:sp>
      <p:sp>
        <p:nvSpPr>
          <p:cNvPr id="11" name="Text 9"/>
          <p:cNvSpPr/>
          <p:nvPr/>
        </p:nvSpPr>
        <p:spPr>
          <a:xfrm>
            <a:off x="1022350" y="386685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Quality 25%</a:t>
            </a:r>
            <a:endParaRPr lang="en-US" sz="1200" dirty="0"/>
          </a:p>
        </p:txBody>
      </p:sp>
      <p:sp>
        <p:nvSpPr>
          <p:cNvPr id="12" name="Shape 10"/>
          <p:cNvSpPr/>
          <p:nvPr/>
        </p:nvSpPr>
        <p:spPr>
          <a:xfrm>
            <a:off x="2520950" y="3910013"/>
            <a:ext cx="952500" cy="127000"/>
          </a:xfrm>
          <a:prstGeom prst="roundRect">
            <a:avLst>
              <a:gd name="adj" fmla="val 50000"/>
            </a:avLst>
          </a:prstGeom>
          <a:solidFill>
            <a:srgbClr val="4F46E5"/>
          </a:solidFill>
          <a:ln/>
        </p:spPr>
      </p:sp>
      <p:sp>
        <p:nvSpPr>
          <p:cNvPr id="13" name="Shape 11"/>
          <p:cNvSpPr/>
          <p:nvPr/>
        </p:nvSpPr>
        <p:spPr>
          <a:xfrm>
            <a:off x="4405809" y="1989336"/>
            <a:ext cx="3380383" cy="2297212"/>
          </a:xfrm>
          <a:prstGeom prst="roundRect">
            <a:avLst>
              <a:gd name="adj" fmla="val 4285"/>
            </a:avLst>
          </a:prstGeom>
          <a:solidFill>
            <a:srgbClr val="FFFFFF"/>
          </a:solidFill>
          <a:ln w="6350">
            <a:solidFill>
              <a:srgbClr val="E2E0D8"/>
            </a:solidFill>
            <a:prstDash val="solid"/>
          </a:ln>
        </p:spPr>
      </p:sp>
      <p:sp>
        <p:nvSpPr>
          <p:cNvPr id="14" name="Text 12"/>
          <p:cNvSpPr/>
          <p:nvPr/>
        </p:nvSpPr>
        <p:spPr>
          <a:xfrm>
            <a:off x="4612184" y="2195711"/>
            <a:ext cx="305666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Frequent Buyer</a:t>
            </a:r>
            <a:endParaRPr lang="en-US" sz="2200" dirty="0"/>
          </a:p>
        </p:txBody>
      </p:sp>
      <p:sp>
        <p:nvSpPr>
          <p:cNvPr id="15" name="Text 13"/>
          <p:cNvSpPr/>
          <p:nvPr/>
        </p:nvSpPr>
        <p:spPr>
          <a:xfrm>
            <a:off x="4612184" y="2683371"/>
            <a:ext cx="30566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Rich history, so show items related to and complementing past purchases.</a:t>
            </a:r>
            <a:endParaRPr lang="en-US" sz="1200" dirty="0"/>
          </a:p>
        </p:txBody>
      </p:sp>
      <p:sp>
        <p:nvSpPr>
          <p:cNvPr id="16" name="Text 14"/>
          <p:cNvSpPr/>
          <p:nvPr/>
        </p:nvSpPr>
        <p:spPr>
          <a:xfrm>
            <a:off x="4612184" y="326241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Related 35%</a:t>
            </a:r>
            <a:endParaRPr lang="en-US" sz="1200" dirty="0"/>
          </a:p>
        </p:txBody>
      </p:sp>
      <p:sp>
        <p:nvSpPr>
          <p:cNvPr id="17" name="Shape 15"/>
          <p:cNvSpPr/>
          <p:nvPr/>
        </p:nvSpPr>
        <p:spPr>
          <a:xfrm>
            <a:off x="6110784" y="3305572"/>
            <a:ext cx="1333500" cy="127000"/>
          </a:xfrm>
          <a:prstGeom prst="roundRect">
            <a:avLst>
              <a:gd name="adj" fmla="val 50000"/>
            </a:avLst>
          </a:prstGeom>
          <a:solidFill>
            <a:srgbClr val="4F46E5"/>
          </a:solidFill>
          <a:ln/>
        </p:spPr>
      </p:sp>
      <p:sp>
        <p:nvSpPr>
          <p:cNvPr id="18" name="Text 16"/>
          <p:cNvSpPr/>
          <p:nvPr/>
        </p:nvSpPr>
        <p:spPr>
          <a:xfrm>
            <a:off x="4612184" y="356463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Interest 20%</a:t>
            </a:r>
            <a:endParaRPr lang="en-US" sz="1200" dirty="0"/>
          </a:p>
        </p:txBody>
      </p:sp>
      <p:sp>
        <p:nvSpPr>
          <p:cNvPr id="19" name="Shape 17"/>
          <p:cNvSpPr/>
          <p:nvPr/>
        </p:nvSpPr>
        <p:spPr>
          <a:xfrm>
            <a:off x="6110784" y="3607792"/>
            <a:ext cx="762000" cy="127000"/>
          </a:xfrm>
          <a:prstGeom prst="roundRect">
            <a:avLst>
              <a:gd name="adj" fmla="val 50000"/>
            </a:avLst>
          </a:prstGeom>
          <a:solidFill>
            <a:srgbClr val="4F46E5"/>
          </a:solidFill>
          <a:ln/>
        </p:spPr>
      </p:sp>
      <p:sp>
        <p:nvSpPr>
          <p:cNvPr id="20" name="Text 18"/>
          <p:cNvSpPr/>
          <p:nvPr/>
        </p:nvSpPr>
        <p:spPr>
          <a:xfrm>
            <a:off x="4612184" y="386685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Quality 15%</a:t>
            </a:r>
            <a:endParaRPr lang="en-US" sz="1200" dirty="0"/>
          </a:p>
        </p:txBody>
      </p:sp>
      <p:sp>
        <p:nvSpPr>
          <p:cNvPr id="21" name="Shape 19"/>
          <p:cNvSpPr/>
          <p:nvPr/>
        </p:nvSpPr>
        <p:spPr>
          <a:xfrm>
            <a:off x="6110784" y="3910013"/>
            <a:ext cx="571500" cy="127000"/>
          </a:xfrm>
          <a:prstGeom prst="roundRect">
            <a:avLst>
              <a:gd name="adj" fmla="val 50000"/>
            </a:avLst>
          </a:prstGeom>
          <a:solidFill>
            <a:srgbClr val="4F46E5"/>
          </a:solidFill>
          <a:ln/>
        </p:spPr>
      </p:sp>
      <p:sp>
        <p:nvSpPr>
          <p:cNvPr id="22" name="Shape 20"/>
          <p:cNvSpPr/>
          <p:nvPr/>
        </p:nvSpPr>
        <p:spPr>
          <a:xfrm>
            <a:off x="7995741" y="1989336"/>
            <a:ext cx="3380284" cy="2297212"/>
          </a:xfrm>
          <a:prstGeom prst="roundRect">
            <a:avLst>
              <a:gd name="adj" fmla="val 4285"/>
            </a:avLst>
          </a:prstGeom>
          <a:solidFill>
            <a:srgbClr val="FFFFFF"/>
          </a:solidFill>
          <a:ln w="6350">
            <a:solidFill>
              <a:srgbClr val="E2E0D8"/>
            </a:solidFill>
            <a:prstDash val="solid"/>
          </a:ln>
        </p:spPr>
      </p:sp>
      <p:sp>
        <p:nvSpPr>
          <p:cNvPr id="23" name="Text 21"/>
          <p:cNvSpPr/>
          <p:nvPr/>
        </p:nvSpPr>
        <p:spPr>
          <a:xfrm>
            <a:off x="8202116" y="2195711"/>
            <a:ext cx="305656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Arial" pitchFamily="34" charset="0"/>
                <a:ea typeface="Arial" pitchFamily="34" charset="-122"/>
                <a:cs typeface="Arial" pitchFamily="34" charset="-120"/>
              </a:rPr>
              <a:t>Occasional Shopper</a:t>
            </a:r>
            <a:endParaRPr lang="en-US" sz="2200" dirty="0"/>
          </a:p>
        </p:txBody>
      </p:sp>
      <p:sp>
        <p:nvSpPr>
          <p:cNvPr id="24" name="Text 22"/>
          <p:cNvSpPr/>
          <p:nvPr/>
        </p:nvSpPr>
        <p:spPr>
          <a:xfrm>
            <a:off x="8202116" y="268337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Needs a reason to return, so lean on seasonal and holiday picks within budget.</a:t>
            </a:r>
            <a:endParaRPr lang="en-US" sz="1200" dirty="0"/>
          </a:p>
        </p:txBody>
      </p:sp>
      <p:sp>
        <p:nvSpPr>
          <p:cNvPr id="25" name="Text 23"/>
          <p:cNvSpPr/>
          <p:nvPr/>
        </p:nvSpPr>
        <p:spPr>
          <a:xfrm>
            <a:off x="8202116" y="326241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Interest 25%</a:t>
            </a:r>
            <a:endParaRPr lang="en-US" sz="1200" dirty="0"/>
          </a:p>
        </p:txBody>
      </p:sp>
      <p:sp>
        <p:nvSpPr>
          <p:cNvPr id="26" name="Shape 24"/>
          <p:cNvSpPr/>
          <p:nvPr/>
        </p:nvSpPr>
        <p:spPr>
          <a:xfrm>
            <a:off x="9700716" y="3305572"/>
            <a:ext cx="952500" cy="127000"/>
          </a:xfrm>
          <a:prstGeom prst="roundRect">
            <a:avLst>
              <a:gd name="adj" fmla="val 50000"/>
            </a:avLst>
          </a:prstGeom>
          <a:solidFill>
            <a:srgbClr val="4F46E5"/>
          </a:solidFill>
          <a:ln/>
        </p:spPr>
      </p:sp>
      <p:sp>
        <p:nvSpPr>
          <p:cNvPr id="27" name="Text 25"/>
          <p:cNvSpPr/>
          <p:nvPr/>
        </p:nvSpPr>
        <p:spPr>
          <a:xfrm>
            <a:off x="8202116" y="356463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Seasonal 20%</a:t>
            </a:r>
            <a:endParaRPr lang="en-US" sz="1200" dirty="0"/>
          </a:p>
        </p:txBody>
      </p:sp>
      <p:sp>
        <p:nvSpPr>
          <p:cNvPr id="28" name="Shape 26"/>
          <p:cNvSpPr/>
          <p:nvPr/>
        </p:nvSpPr>
        <p:spPr>
          <a:xfrm>
            <a:off x="9700716" y="3607792"/>
            <a:ext cx="762000" cy="127000"/>
          </a:xfrm>
          <a:prstGeom prst="roundRect">
            <a:avLst>
              <a:gd name="adj" fmla="val 50000"/>
            </a:avLst>
          </a:prstGeom>
          <a:solidFill>
            <a:srgbClr val="4F46E5"/>
          </a:solidFill>
          <a:ln/>
        </p:spPr>
      </p:sp>
      <p:sp>
        <p:nvSpPr>
          <p:cNvPr id="29" name="Text 27"/>
          <p:cNvSpPr/>
          <p:nvPr/>
        </p:nvSpPr>
        <p:spPr>
          <a:xfrm>
            <a:off x="8202116" y="3866852"/>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Related 15%</a:t>
            </a:r>
            <a:endParaRPr lang="en-US" sz="1200" dirty="0"/>
          </a:p>
        </p:txBody>
      </p:sp>
      <p:sp>
        <p:nvSpPr>
          <p:cNvPr id="30" name="Shape 28"/>
          <p:cNvSpPr/>
          <p:nvPr/>
        </p:nvSpPr>
        <p:spPr>
          <a:xfrm>
            <a:off x="9700716" y="3910013"/>
            <a:ext cx="571500" cy="127000"/>
          </a:xfrm>
          <a:prstGeom prst="roundRect">
            <a:avLst>
              <a:gd name="adj" fmla="val 50000"/>
            </a:avLst>
          </a:prstGeom>
          <a:solidFill>
            <a:srgbClr val="4F46E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TECHNICAL APPROACH</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Seven signals rank the catalogue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6591300" cy="2660650"/>
        </p:xfrm>
        <a:graphic>
          <a:graphicData uri="http://schemas.openxmlformats.org/drawingml/2006/table">
            <a:tbl>
              <a:tblPr/>
              <a:tblGrid>
                <a:gridCol w="1581912"/>
                <a:gridCol w="5009388"/>
              </a:tblGrid>
              <a:tr h="332581">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Signal</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What it measures</a:t>
                      </a:r>
                      <a:endParaRPr lang="en-US" sz="1200" dirty="0">
                        <a:latin typeface="Arial" charset="0"/>
                        <a:ea typeface="Arial" charset="0"/>
                        <a:cs typeface="Arial" charset="0"/>
                      </a:endParaRPr>
                    </a:p>
                  </a:txBody>
                  <a:tcPr marL="53340" marR="53340" marT="53340" marB="5334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Interest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Browsed categories; browsed-but-not-bought scores highest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Related</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Complements or repeats past purchases</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Popularity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Recommendation probability in the dataset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Quality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Rating, review sentiment, similar-product rating</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Seasonal</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Season, holiday and region match</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Price fit</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Closeness to the customer’s average order value</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Semantic</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Embedding match to the LLM preference summary</a:t>
                      </a:r>
                      <a:endParaRPr lang="en-US" sz="1200" dirty="0">
                        <a:latin typeface="Arial" charset="0"/>
                        <a:ea typeface="Arial" charset="0"/>
                        <a:cs typeface="Arial"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Shape 2"/>
          <p:cNvSpPr/>
          <p:nvPr/>
        </p:nvSpPr>
        <p:spPr>
          <a:xfrm>
            <a:off x="7721600" y="1935361"/>
            <a:ext cx="3657600" cy="2673350"/>
          </a:xfrm>
          <a:prstGeom prst="roundRect">
            <a:avLst>
              <a:gd name="adj" fmla="val 3800"/>
            </a:avLst>
          </a:prstGeom>
          <a:solidFill>
            <a:srgbClr val="14213D"/>
          </a:solidFill>
          <a:ln/>
        </p:spPr>
      </p:sp>
      <p:sp>
        <p:nvSpPr>
          <p:cNvPr id="6" name="Text 3"/>
          <p:cNvSpPr/>
          <p:nvPr/>
        </p:nvSpPr>
        <p:spPr>
          <a:xfrm>
            <a:off x="7950200" y="2163961"/>
            <a:ext cx="32964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Guardrails</a:t>
            </a:r>
            <a:endParaRPr lang="en-US" sz="1600" dirty="0"/>
          </a:p>
        </p:txBody>
      </p:sp>
      <p:sp>
        <p:nvSpPr>
          <p:cNvPr id="7" name="Text 4"/>
          <p:cNvSpPr/>
          <p:nvPr/>
        </p:nvSpPr>
        <p:spPr>
          <a:xfrm>
            <a:off x="7950200" y="2534741"/>
            <a:ext cx="32964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LLM sees at most 12 candidates</a:t>
            </a:r>
            <a:endParaRPr lang="en-US" sz="1200" dirty="0"/>
          </a:p>
        </p:txBody>
      </p:sp>
      <p:sp>
        <p:nvSpPr>
          <p:cNvPr id="8" name="Text 5"/>
          <p:cNvSpPr/>
          <p:nvPr/>
        </p:nvSpPr>
        <p:spPr>
          <a:xfrm>
            <a:off x="7950200" y="2875062"/>
            <a:ext cx="32964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Product IDs it invents are rejected</a:t>
            </a:r>
            <a:endParaRPr lang="en-US" sz="1200" dirty="0"/>
          </a:p>
        </p:txBody>
      </p:sp>
      <p:sp>
        <p:nvSpPr>
          <p:cNvPr id="9" name="Text 6"/>
          <p:cNvSpPr/>
          <p:nvPr/>
        </p:nvSpPr>
        <p:spPr>
          <a:xfrm>
            <a:off x="7950200" y="3215382"/>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Picks always span the shopper’s interest categories</a:t>
            </a:r>
            <a:endParaRPr lang="en-US" sz="1200" dirty="0"/>
          </a:p>
        </p:txBody>
      </p:sp>
      <p:sp>
        <p:nvSpPr>
          <p:cNvPr id="10" name="Text 7"/>
          <p:cNvSpPr/>
          <p:nvPr/>
        </p:nvSpPr>
        <p:spPr>
          <a:xfrm>
            <a:off x="7950200" y="3769023"/>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If Ollama is down, rule-based ranking and reasons take over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LONG-TERM MEMORY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What the agents remember in SQLite</a:t>
            </a:r>
            <a:endParaRPr lang="en-US" sz="3600" dirty="0"/>
          </a:p>
        </p:txBody>
      </p:sp>
      <p:sp>
        <p:nvSpPr>
          <p:cNvPr id="4" name="Shape 2"/>
          <p:cNvSpPr/>
          <p:nvPr/>
        </p:nvSpPr>
        <p:spPr>
          <a:xfrm>
            <a:off x="812800" y="1986161"/>
            <a:ext cx="5181600" cy="1193701"/>
          </a:xfrm>
          <a:prstGeom prst="roundRect">
            <a:avLst>
              <a:gd name="adj" fmla="val 8511"/>
            </a:avLst>
          </a:prstGeom>
          <a:solidFill>
            <a:srgbClr val="FBFAF7"/>
          </a:solidFill>
          <a:ln/>
        </p:spPr>
      </p:sp>
      <p:sp>
        <p:nvSpPr>
          <p:cNvPr id="5" name="Text 3"/>
          <p:cNvSpPr/>
          <p:nvPr/>
        </p:nvSpPr>
        <p:spPr>
          <a:xfrm>
            <a:off x="1016000" y="2189361"/>
            <a:ext cx="49184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Courier New" pitchFamily="49" charset="0"/>
                <a:ea typeface="Courier New" pitchFamily="49" charset="-122"/>
                <a:cs typeface="Courier New" pitchFamily="49" charset="-120"/>
              </a:rPr>
              <a:t>customer_memory</a:t>
            </a:r>
            <a:endParaRPr lang="en-US" sz="1600" dirty="0"/>
          </a:p>
        </p:txBody>
      </p:sp>
      <p:sp>
        <p:nvSpPr>
          <p:cNvPr id="6" name="Text 4"/>
          <p:cNvSpPr/>
          <p:nvPr/>
        </p:nvSpPr>
        <p:spPr>
          <a:xfrm>
            <a:off x="1016000" y="2550021"/>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LLM preference summaries, reused until the shopper’s history or feedback changes, saving an LLM call on repeat visits.</a:t>
            </a:r>
            <a:endParaRPr lang="en-US" sz="1200" dirty="0"/>
          </a:p>
        </p:txBody>
      </p:sp>
      <p:sp>
        <p:nvSpPr>
          <p:cNvPr id="7" name="Shape 5"/>
          <p:cNvSpPr/>
          <p:nvPr/>
        </p:nvSpPr>
        <p:spPr>
          <a:xfrm>
            <a:off x="6197600" y="1986161"/>
            <a:ext cx="5181600" cy="1193701"/>
          </a:xfrm>
          <a:prstGeom prst="roundRect">
            <a:avLst>
              <a:gd name="adj" fmla="val 8511"/>
            </a:avLst>
          </a:prstGeom>
          <a:solidFill>
            <a:srgbClr val="FBFAF7"/>
          </a:solidFill>
          <a:ln/>
        </p:spPr>
      </p:sp>
      <p:sp>
        <p:nvSpPr>
          <p:cNvPr id="8" name="Text 6"/>
          <p:cNvSpPr/>
          <p:nvPr/>
        </p:nvSpPr>
        <p:spPr>
          <a:xfrm>
            <a:off x="6400800" y="2189361"/>
            <a:ext cx="49184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Courier New" pitchFamily="49" charset="0"/>
                <a:ea typeface="Courier New" pitchFamily="49" charset="-122"/>
                <a:cs typeface="Courier New" pitchFamily="49" charset="-120"/>
              </a:rPr>
              <a:t>feedback</a:t>
            </a:r>
            <a:endParaRPr lang="en-US" sz="1600" dirty="0"/>
          </a:p>
        </p:txBody>
      </p:sp>
      <p:sp>
        <p:nvSpPr>
          <p:cNvPr id="9" name="Text 7"/>
          <p:cNvSpPr/>
          <p:nvPr/>
        </p:nvSpPr>
        <p:spPr>
          <a:xfrm>
            <a:off x="6400800" y="2550021"/>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Every click, purchase and ignore. It becomes liked and disliked product types plus items to stop showing.</a:t>
            </a:r>
            <a:endParaRPr lang="en-US" sz="1200" dirty="0"/>
          </a:p>
        </p:txBody>
      </p:sp>
      <p:sp>
        <p:nvSpPr>
          <p:cNvPr id="10" name="Shape 8"/>
          <p:cNvSpPr/>
          <p:nvPr/>
        </p:nvSpPr>
        <p:spPr>
          <a:xfrm>
            <a:off x="812800" y="3383062"/>
            <a:ext cx="5181600" cy="1193701"/>
          </a:xfrm>
          <a:prstGeom prst="roundRect">
            <a:avLst>
              <a:gd name="adj" fmla="val 8511"/>
            </a:avLst>
          </a:prstGeom>
          <a:solidFill>
            <a:srgbClr val="FBFAF7"/>
          </a:solidFill>
          <a:ln/>
        </p:spPr>
      </p:sp>
      <p:sp>
        <p:nvSpPr>
          <p:cNvPr id="11" name="Text 9"/>
          <p:cNvSpPr/>
          <p:nvPr/>
        </p:nvSpPr>
        <p:spPr>
          <a:xfrm>
            <a:off x="1016000" y="3586262"/>
            <a:ext cx="49184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Courier New" pitchFamily="49" charset="0"/>
                <a:ea typeface="Courier New" pitchFamily="49" charset="-122"/>
                <a:cs typeface="Courier New" pitchFamily="49" charset="-120"/>
              </a:rPr>
              <a:t>recommendations</a:t>
            </a:r>
            <a:endParaRPr lang="en-US" sz="1600" dirty="0"/>
          </a:p>
        </p:txBody>
      </p:sp>
      <p:sp>
        <p:nvSpPr>
          <p:cNvPr id="12" name="Text 10"/>
          <p:cNvSpPr/>
          <p:nvPr/>
        </p:nvSpPr>
        <p:spPr>
          <a:xfrm>
            <a:off x="1016000" y="3946922"/>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Each item served, with its score, reason and strategy: a full audit trail of what the agents decided.</a:t>
            </a:r>
            <a:endParaRPr lang="en-US" sz="1200" dirty="0"/>
          </a:p>
        </p:txBody>
      </p:sp>
      <p:sp>
        <p:nvSpPr>
          <p:cNvPr id="13" name="Shape 11"/>
          <p:cNvSpPr/>
          <p:nvPr/>
        </p:nvSpPr>
        <p:spPr>
          <a:xfrm>
            <a:off x="6197600" y="3383062"/>
            <a:ext cx="5181600" cy="1193701"/>
          </a:xfrm>
          <a:prstGeom prst="roundRect">
            <a:avLst>
              <a:gd name="adj" fmla="val 8511"/>
            </a:avLst>
          </a:prstGeom>
          <a:solidFill>
            <a:srgbClr val="FBFAF7"/>
          </a:solidFill>
          <a:ln/>
        </p:spPr>
      </p:sp>
      <p:sp>
        <p:nvSpPr>
          <p:cNvPr id="14" name="Text 12"/>
          <p:cNvSpPr/>
          <p:nvPr/>
        </p:nvSpPr>
        <p:spPr>
          <a:xfrm>
            <a:off x="6400800" y="3586262"/>
            <a:ext cx="491845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Courier New" pitchFamily="49" charset="0"/>
                <a:ea typeface="Courier New" pitchFamily="49" charset="-122"/>
                <a:cs typeface="Courier New" pitchFamily="49" charset="-120"/>
              </a:rPr>
              <a:t>product_embeddings</a:t>
            </a:r>
            <a:endParaRPr lang="en-US" sz="1600" dirty="0"/>
          </a:p>
        </p:txBody>
      </p:sp>
      <p:sp>
        <p:nvSpPr>
          <p:cNvPr id="15" name="Text 13"/>
          <p:cNvSpPr/>
          <p:nvPr/>
        </p:nvSpPr>
        <p:spPr>
          <a:xfrm>
            <a:off x="6400800" y="3946922"/>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10,000 product vectors (768 dimensions) from nomic-embed-text, for semantic matching.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RESULTS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3.6× better than recommending what’s popular</a:t>
            </a:r>
            <a:endParaRPr lang="en-US" sz="3600" dirty="0"/>
          </a:p>
        </p:txBody>
      </p:sp>
      <p:sp>
        <p:nvSpPr>
          <p:cNvPr id="4" name="Shape 2"/>
          <p:cNvSpPr/>
          <p:nvPr/>
        </p:nvSpPr>
        <p:spPr>
          <a:xfrm>
            <a:off x="815975" y="1938536"/>
            <a:ext cx="5124450" cy="2586831"/>
          </a:xfrm>
          <a:prstGeom prst="roundRect">
            <a:avLst>
              <a:gd name="adj" fmla="val 3805"/>
            </a:avLst>
          </a:prstGeom>
          <a:solidFill>
            <a:srgbClr val="FFFFFF"/>
          </a:solidFill>
          <a:ln w="6350">
            <a:solidFill>
              <a:srgbClr val="E2E0D8"/>
            </a:solidFill>
            <a:prstDash val="solid"/>
          </a:ln>
        </p:spPr>
      </p:sp>
      <p:sp>
        <p:nvSpPr>
          <p:cNvPr id="5" name="Text 3"/>
          <p:cNvSpPr/>
          <p:nvPr/>
        </p:nvSpPr>
        <p:spPr>
          <a:xfrm>
            <a:off x="1073150" y="2195711"/>
            <a:ext cx="474840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4F46E5"/>
                </a:solidFill>
                <a:latin typeface="Arial" pitchFamily="34" charset="0"/>
                <a:ea typeface="Arial" pitchFamily="34" charset="-122"/>
                <a:cs typeface="Arial" pitchFamily="34" charset="-120"/>
              </a:rPr>
              <a:t>44.5%</a:t>
            </a:r>
            <a:endParaRPr lang="en-US" sz="6000" dirty="0"/>
          </a:p>
        </p:txBody>
      </p:sp>
      <p:sp>
        <p:nvSpPr>
          <p:cNvPr id="6" name="Text 4"/>
          <p:cNvSpPr/>
          <p:nvPr/>
        </p:nvSpPr>
        <p:spPr>
          <a:xfrm>
            <a:off x="1073150" y="3084711"/>
            <a:ext cx="4748403"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Arial" pitchFamily="34" charset="0"/>
                <a:ea typeface="Arial" pitchFamily="34" charset="-122"/>
                <a:cs typeface="Arial" pitchFamily="34" charset="-120"/>
              </a:rPr>
              <a:t>exact product type recovered in the top 3</a:t>
            </a:r>
            <a:endParaRPr lang="en-US" sz="1600" dirty="0"/>
          </a:p>
        </p:txBody>
      </p:sp>
      <p:sp>
        <p:nvSpPr>
          <p:cNvPr id="7" name="Text 5"/>
          <p:cNvSpPr/>
          <p:nvPr/>
        </p:nvSpPr>
        <p:spPr>
          <a:xfrm>
            <a:off x="1073150" y="3475831"/>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Multi-agent</a:t>
            </a:r>
            <a:endParaRPr lang="en-US" sz="1200" dirty="0"/>
          </a:p>
        </p:txBody>
      </p:sp>
      <p:sp>
        <p:nvSpPr>
          <p:cNvPr id="8" name="Shape 6"/>
          <p:cNvSpPr/>
          <p:nvPr/>
        </p:nvSpPr>
        <p:spPr>
          <a:xfrm>
            <a:off x="2317750" y="3512641"/>
            <a:ext cx="1187450" cy="139700"/>
          </a:xfrm>
          <a:prstGeom prst="roundRect">
            <a:avLst>
              <a:gd name="adj" fmla="val 50000"/>
            </a:avLst>
          </a:prstGeom>
          <a:solidFill>
            <a:srgbClr val="4F46E5"/>
          </a:solidFill>
          <a:ln/>
        </p:spPr>
      </p:sp>
      <p:sp>
        <p:nvSpPr>
          <p:cNvPr id="9" name="Text 7"/>
          <p:cNvSpPr/>
          <p:nvPr/>
        </p:nvSpPr>
        <p:spPr>
          <a:xfrm>
            <a:off x="3606800" y="3475831"/>
            <a:ext cx="5186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44.5%</a:t>
            </a:r>
            <a:endParaRPr lang="en-US" sz="1200" dirty="0"/>
          </a:p>
        </p:txBody>
      </p:sp>
      <p:sp>
        <p:nvSpPr>
          <p:cNvPr id="10" name="Text 8"/>
          <p:cNvSpPr/>
          <p:nvPr/>
        </p:nvSpPr>
        <p:spPr>
          <a:xfrm>
            <a:off x="1073150" y="3765352"/>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Popularity</a:t>
            </a:r>
            <a:endParaRPr lang="en-US" sz="1200" dirty="0"/>
          </a:p>
        </p:txBody>
      </p:sp>
      <p:sp>
        <p:nvSpPr>
          <p:cNvPr id="11" name="Shape 9"/>
          <p:cNvSpPr/>
          <p:nvPr/>
        </p:nvSpPr>
        <p:spPr>
          <a:xfrm>
            <a:off x="2317750" y="3802162"/>
            <a:ext cx="330200" cy="139700"/>
          </a:xfrm>
          <a:prstGeom prst="roundRect">
            <a:avLst>
              <a:gd name="adj" fmla="val 50000"/>
            </a:avLst>
          </a:prstGeom>
          <a:solidFill>
            <a:srgbClr val="B9B7AE"/>
          </a:solidFill>
          <a:ln/>
        </p:spPr>
      </p:sp>
      <p:sp>
        <p:nvSpPr>
          <p:cNvPr id="12" name="Text 10"/>
          <p:cNvSpPr/>
          <p:nvPr/>
        </p:nvSpPr>
        <p:spPr>
          <a:xfrm>
            <a:off x="2749550" y="3765352"/>
            <a:ext cx="518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12.3%</a:t>
            </a:r>
            <a:endParaRPr lang="en-US" sz="1200" dirty="0"/>
          </a:p>
        </p:txBody>
      </p:sp>
      <p:sp>
        <p:nvSpPr>
          <p:cNvPr id="13" name="Text 11"/>
          <p:cNvSpPr/>
          <p:nvPr/>
        </p:nvSpPr>
        <p:spPr>
          <a:xfrm>
            <a:off x="1073150" y="4054872"/>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Random</a:t>
            </a:r>
            <a:endParaRPr lang="en-US" sz="1200" dirty="0"/>
          </a:p>
        </p:txBody>
      </p:sp>
      <p:sp>
        <p:nvSpPr>
          <p:cNvPr id="14" name="Shape 12"/>
          <p:cNvSpPr/>
          <p:nvPr/>
        </p:nvSpPr>
        <p:spPr>
          <a:xfrm>
            <a:off x="2317750" y="4091682"/>
            <a:ext cx="323850" cy="139700"/>
          </a:xfrm>
          <a:prstGeom prst="roundRect">
            <a:avLst>
              <a:gd name="adj" fmla="val 50000"/>
            </a:avLst>
          </a:prstGeom>
          <a:solidFill>
            <a:srgbClr val="B9B7AE"/>
          </a:solidFill>
          <a:ln/>
        </p:spPr>
      </p:sp>
      <p:sp>
        <p:nvSpPr>
          <p:cNvPr id="15" name="Text 13"/>
          <p:cNvSpPr/>
          <p:nvPr/>
        </p:nvSpPr>
        <p:spPr>
          <a:xfrm>
            <a:off x="2743200" y="4054872"/>
            <a:ext cx="518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12.2%</a:t>
            </a:r>
            <a:endParaRPr lang="en-US" sz="1200" dirty="0"/>
          </a:p>
        </p:txBody>
      </p:sp>
      <p:sp>
        <p:nvSpPr>
          <p:cNvPr id="16" name="Shape 14"/>
          <p:cNvSpPr/>
          <p:nvPr/>
        </p:nvSpPr>
        <p:spPr>
          <a:xfrm>
            <a:off x="6251575" y="1938536"/>
            <a:ext cx="5124450" cy="2586831"/>
          </a:xfrm>
          <a:prstGeom prst="roundRect">
            <a:avLst>
              <a:gd name="adj" fmla="val 3805"/>
            </a:avLst>
          </a:prstGeom>
          <a:solidFill>
            <a:srgbClr val="FFFFFF"/>
          </a:solidFill>
          <a:ln w="6350">
            <a:solidFill>
              <a:srgbClr val="E2E0D8"/>
            </a:solidFill>
            <a:prstDash val="solid"/>
          </a:ln>
        </p:spPr>
      </p:sp>
      <p:sp>
        <p:nvSpPr>
          <p:cNvPr id="17" name="Text 15"/>
          <p:cNvSpPr/>
          <p:nvPr/>
        </p:nvSpPr>
        <p:spPr>
          <a:xfrm>
            <a:off x="6508750" y="2195711"/>
            <a:ext cx="4748403"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4F46E5"/>
                </a:solidFill>
                <a:latin typeface="Arial" pitchFamily="34" charset="0"/>
                <a:ea typeface="Arial" pitchFamily="34" charset="-122"/>
                <a:cs typeface="Arial" pitchFamily="34" charset="-120"/>
              </a:rPr>
              <a:t>100%</a:t>
            </a:r>
            <a:endParaRPr lang="en-US" sz="6000" dirty="0"/>
          </a:p>
        </p:txBody>
      </p:sp>
      <p:sp>
        <p:nvSpPr>
          <p:cNvPr id="18" name="Text 16"/>
          <p:cNvSpPr/>
          <p:nvPr/>
        </p:nvSpPr>
        <p:spPr>
          <a:xfrm>
            <a:off x="6508750" y="3084711"/>
            <a:ext cx="4748403"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Arial" pitchFamily="34" charset="0"/>
                <a:ea typeface="Arial" pitchFamily="34" charset="-122"/>
                <a:cs typeface="Arial" pitchFamily="34" charset="-120"/>
              </a:rPr>
              <a:t>right category recovered in the top 3</a:t>
            </a:r>
            <a:endParaRPr lang="en-US" sz="1600" dirty="0"/>
          </a:p>
        </p:txBody>
      </p:sp>
      <p:sp>
        <p:nvSpPr>
          <p:cNvPr id="19" name="Text 17"/>
          <p:cNvSpPr/>
          <p:nvPr/>
        </p:nvSpPr>
        <p:spPr>
          <a:xfrm>
            <a:off x="6508750" y="3475831"/>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Arial" pitchFamily="34" charset="0"/>
                <a:ea typeface="Arial" pitchFamily="34" charset="-122"/>
                <a:cs typeface="Arial" pitchFamily="34" charset="-120"/>
              </a:rPr>
              <a:t>Multi-agent</a:t>
            </a:r>
            <a:endParaRPr lang="en-US" sz="1200" dirty="0"/>
          </a:p>
        </p:txBody>
      </p:sp>
      <p:sp>
        <p:nvSpPr>
          <p:cNvPr id="20" name="Shape 18"/>
          <p:cNvSpPr/>
          <p:nvPr/>
        </p:nvSpPr>
        <p:spPr>
          <a:xfrm>
            <a:off x="7753350" y="3512641"/>
            <a:ext cx="2667000" cy="139700"/>
          </a:xfrm>
          <a:prstGeom prst="roundRect">
            <a:avLst>
              <a:gd name="adj" fmla="val 50000"/>
            </a:avLst>
          </a:prstGeom>
          <a:solidFill>
            <a:srgbClr val="4F46E5"/>
          </a:solidFill>
          <a:ln/>
        </p:spPr>
      </p:sp>
      <p:sp>
        <p:nvSpPr>
          <p:cNvPr id="21" name="Text 19"/>
          <p:cNvSpPr/>
          <p:nvPr/>
        </p:nvSpPr>
        <p:spPr>
          <a:xfrm>
            <a:off x="10521950" y="3475831"/>
            <a:ext cx="4677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Arial" pitchFamily="34" charset="0"/>
                <a:ea typeface="Arial" pitchFamily="34" charset="-122"/>
                <a:cs typeface="Arial" pitchFamily="34" charset="-120"/>
              </a:rPr>
              <a:t>100%</a:t>
            </a:r>
            <a:endParaRPr lang="en-US" sz="1200" dirty="0"/>
          </a:p>
        </p:txBody>
      </p:sp>
      <p:sp>
        <p:nvSpPr>
          <p:cNvPr id="22" name="Text 20"/>
          <p:cNvSpPr/>
          <p:nvPr/>
        </p:nvSpPr>
        <p:spPr>
          <a:xfrm>
            <a:off x="6508750" y="3765352"/>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Popularity</a:t>
            </a:r>
            <a:endParaRPr lang="en-US" sz="1200" dirty="0"/>
          </a:p>
        </p:txBody>
      </p:sp>
      <p:sp>
        <p:nvSpPr>
          <p:cNvPr id="23" name="Shape 21"/>
          <p:cNvSpPr/>
          <p:nvPr/>
        </p:nvSpPr>
        <p:spPr>
          <a:xfrm>
            <a:off x="7753350" y="3802162"/>
            <a:ext cx="869950" cy="139700"/>
          </a:xfrm>
          <a:prstGeom prst="roundRect">
            <a:avLst>
              <a:gd name="adj" fmla="val 50000"/>
            </a:avLst>
          </a:prstGeom>
          <a:solidFill>
            <a:srgbClr val="B9B7AE"/>
          </a:solidFill>
          <a:ln/>
        </p:spPr>
      </p:sp>
      <p:sp>
        <p:nvSpPr>
          <p:cNvPr id="24" name="Text 22"/>
          <p:cNvSpPr/>
          <p:nvPr/>
        </p:nvSpPr>
        <p:spPr>
          <a:xfrm>
            <a:off x="8724900" y="3765352"/>
            <a:ext cx="518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32.7%</a:t>
            </a:r>
            <a:endParaRPr lang="en-US" sz="1200" dirty="0"/>
          </a:p>
        </p:txBody>
      </p:sp>
      <p:sp>
        <p:nvSpPr>
          <p:cNvPr id="25" name="Text 23"/>
          <p:cNvSpPr/>
          <p:nvPr/>
        </p:nvSpPr>
        <p:spPr>
          <a:xfrm>
            <a:off x="6508750" y="4054872"/>
            <a:ext cx="1193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Random</a:t>
            </a:r>
            <a:endParaRPr lang="en-US" sz="1200" dirty="0"/>
          </a:p>
        </p:txBody>
      </p:sp>
      <p:sp>
        <p:nvSpPr>
          <p:cNvPr id="26" name="Shape 24"/>
          <p:cNvSpPr/>
          <p:nvPr/>
        </p:nvSpPr>
        <p:spPr>
          <a:xfrm>
            <a:off x="7753350" y="4091682"/>
            <a:ext cx="1130300" cy="139700"/>
          </a:xfrm>
          <a:prstGeom prst="roundRect">
            <a:avLst>
              <a:gd name="adj" fmla="val 50000"/>
            </a:avLst>
          </a:prstGeom>
          <a:solidFill>
            <a:srgbClr val="B9B7AE"/>
          </a:solidFill>
          <a:ln/>
        </p:spPr>
      </p:sp>
      <p:sp>
        <p:nvSpPr>
          <p:cNvPr id="27" name="Text 25"/>
          <p:cNvSpPr/>
          <p:nvPr/>
        </p:nvSpPr>
        <p:spPr>
          <a:xfrm>
            <a:off x="8985250" y="4054872"/>
            <a:ext cx="518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42.3%</a:t>
            </a:r>
            <a:endParaRPr lang="en-US" sz="1200" dirty="0"/>
          </a:p>
        </p:txBody>
      </p:sp>
      <p:sp>
        <p:nvSpPr>
          <p:cNvPr id="28" name="Text 26"/>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Arial" pitchFamily="34" charset="0"/>
                <a:ea typeface="Arial" pitchFamily="34" charset="-122"/>
                <a:cs typeface="Arial" pitchFamily="34" charset="-120"/>
              </a:rPr>
              <a:t>Hold out each customer’s last purchase, all 10,000 customers, no LLM. Synthetic data favours the browsed-not-bought signal; ~46% is the product-type ceiling.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LIVE DEMO · CUSTOMER C1001</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Two reactions, and the next list adapts</a:t>
            </a:r>
            <a:endParaRPr lang="en-US" sz="3600" dirty="0"/>
          </a:p>
        </p:txBody>
      </p:sp>
      <p:sp>
        <p:nvSpPr>
          <p:cNvPr id="4" name="Shape 2"/>
          <p:cNvSpPr/>
          <p:nvPr/>
        </p:nvSpPr>
        <p:spPr>
          <a:xfrm>
            <a:off x="815975" y="1938536"/>
            <a:ext cx="3380284" cy="1613991"/>
          </a:xfrm>
          <a:prstGeom prst="roundRect">
            <a:avLst>
              <a:gd name="adj" fmla="val 6098"/>
            </a:avLst>
          </a:prstGeom>
          <a:solidFill>
            <a:srgbClr val="FFFFFF"/>
          </a:solidFill>
          <a:ln w="6350">
            <a:solidFill>
              <a:srgbClr val="E2E0D8"/>
            </a:solidFill>
            <a:prstDash val="solid"/>
          </a:ln>
        </p:spPr>
      </p:sp>
      <p:sp>
        <p:nvSpPr>
          <p:cNvPr id="5" name="Text 3"/>
          <p:cNvSpPr/>
          <p:nvPr/>
        </p:nvSpPr>
        <p:spPr>
          <a:xfrm>
            <a:off x="1022350" y="2144911"/>
            <a:ext cx="30565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First visit</a:t>
            </a:r>
            <a:endParaRPr lang="en-US" sz="1600" dirty="0"/>
          </a:p>
        </p:txBody>
      </p:sp>
      <p:sp>
        <p:nvSpPr>
          <p:cNvPr id="6" name="Text 4"/>
          <p:cNvSpPr/>
          <p:nvPr/>
        </p:nvSpPr>
        <p:spPr>
          <a:xfrm>
            <a:off x="1022350" y="249029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Books · Biography</a:t>
            </a:r>
            <a:endParaRPr lang="en-US" sz="1200" dirty="0"/>
          </a:p>
        </p:txBody>
      </p:sp>
      <p:sp>
        <p:nvSpPr>
          <p:cNvPr id="7" name="Text 5"/>
          <p:cNvSpPr/>
          <p:nvPr/>
        </p:nvSpPr>
        <p:spPr>
          <a:xfrm>
            <a:off x="1022350" y="280521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Fashion · Jeans</a:t>
            </a:r>
            <a:endParaRPr lang="en-US" sz="1200" dirty="0"/>
          </a:p>
        </p:txBody>
      </p:sp>
      <p:sp>
        <p:nvSpPr>
          <p:cNvPr id="8" name="Text 6"/>
          <p:cNvSpPr/>
          <p:nvPr/>
        </p:nvSpPr>
        <p:spPr>
          <a:xfrm>
            <a:off x="1022350" y="312013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Fitness · Treadmill</a:t>
            </a:r>
            <a:endParaRPr lang="en-US" sz="1200" dirty="0"/>
          </a:p>
        </p:txBody>
      </p:sp>
      <p:sp>
        <p:nvSpPr>
          <p:cNvPr id="9" name="Shape 7"/>
          <p:cNvSpPr/>
          <p:nvPr/>
        </p:nvSpPr>
        <p:spPr>
          <a:xfrm>
            <a:off x="4402634" y="1935361"/>
            <a:ext cx="3374033" cy="1620341"/>
          </a:xfrm>
          <a:prstGeom prst="roundRect">
            <a:avLst>
              <a:gd name="adj" fmla="val 6270"/>
            </a:avLst>
          </a:prstGeom>
          <a:solidFill>
            <a:srgbClr val="14213D"/>
          </a:solidFill>
          <a:ln/>
        </p:spPr>
      </p:sp>
      <p:sp>
        <p:nvSpPr>
          <p:cNvPr id="10" name="Text 8"/>
          <p:cNvSpPr/>
          <p:nvPr/>
        </p:nvSpPr>
        <p:spPr>
          <a:xfrm>
            <a:off x="4605834" y="2138561"/>
            <a:ext cx="305666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Shopper reacts</a:t>
            </a:r>
            <a:endParaRPr lang="en-US" sz="1600" dirty="0"/>
          </a:p>
        </p:txBody>
      </p:sp>
      <p:sp>
        <p:nvSpPr>
          <p:cNvPr id="11" name="Text 9"/>
          <p:cNvSpPr/>
          <p:nvPr/>
        </p:nvSpPr>
        <p:spPr>
          <a:xfrm>
            <a:off x="4605834" y="2483941"/>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0"/>
                </a:solidFill>
                <a:latin typeface="Arial" pitchFamily="34" charset="0"/>
                <a:ea typeface="Arial" pitchFamily="34" charset="-122"/>
                <a:cs typeface="Arial" pitchFamily="34" charset="-120"/>
              </a:rPr>
              <a:t>Purchase</a:t>
            </a:r>
            <a:r>
              <a:rPr lang="en-US" sz="1200" dirty="0">
                <a:solidFill>
                  <a:srgbClr val="C9D3E6"/>
                </a:solidFill>
                <a:latin typeface="Arial" pitchFamily="34" charset="0"/>
                <a:ea typeface="Arial" pitchFamily="34" charset="-122"/>
                <a:cs typeface="Arial" pitchFamily="34" charset="-120"/>
              </a:rPr>
              <a:t> the biography</a:t>
            </a:r>
            <a:endParaRPr lang="en-US" sz="1200" dirty="0"/>
          </a:p>
        </p:txBody>
      </p:sp>
      <p:sp>
        <p:nvSpPr>
          <p:cNvPr id="12" name="Text 10"/>
          <p:cNvSpPr/>
          <p:nvPr/>
        </p:nvSpPr>
        <p:spPr>
          <a:xfrm>
            <a:off x="4605834" y="2798862"/>
            <a:ext cx="3056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0"/>
                </a:solidFill>
                <a:latin typeface="Arial" pitchFamily="34" charset="0"/>
                <a:ea typeface="Arial" pitchFamily="34" charset="-122"/>
                <a:cs typeface="Arial" pitchFamily="34" charset="-120"/>
              </a:rPr>
              <a:t>Ignore</a:t>
            </a:r>
            <a:r>
              <a:rPr lang="en-US" sz="1200" dirty="0">
                <a:solidFill>
                  <a:srgbClr val="C9D3E6"/>
                </a:solidFill>
                <a:latin typeface="Arial" pitchFamily="34" charset="0"/>
                <a:ea typeface="Arial" pitchFamily="34" charset="-122"/>
                <a:cs typeface="Arial" pitchFamily="34" charset="-120"/>
              </a:rPr>
              <a:t> the jeans</a:t>
            </a:r>
            <a:endParaRPr lang="en-US" sz="1200" dirty="0"/>
          </a:p>
        </p:txBody>
      </p:sp>
      <p:sp>
        <p:nvSpPr>
          <p:cNvPr id="13" name="Text 11"/>
          <p:cNvSpPr/>
          <p:nvPr/>
        </p:nvSpPr>
        <p:spPr>
          <a:xfrm>
            <a:off x="4605834" y="3113782"/>
            <a:ext cx="30566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Feedback Agent stores both in SQLite</a:t>
            </a:r>
            <a:endParaRPr lang="en-US" sz="1200" dirty="0"/>
          </a:p>
        </p:txBody>
      </p:sp>
      <p:sp>
        <p:nvSpPr>
          <p:cNvPr id="14" name="Shape 12"/>
          <p:cNvSpPr/>
          <p:nvPr/>
        </p:nvSpPr>
        <p:spPr>
          <a:xfrm>
            <a:off x="7986216" y="1941711"/>
            <a:ext cx="3386634" cy="1607641"/>
          </a:xfrm>
          <a:prstGeom prst="roundRect">
            <a:avLst>
              <a:gd name="adj" fmla="val 5925"/>
            </a:avLst>
          </a:prstGeom>
          <a:solidFill>
            <a:srgbClr val="FFFFFF"/>
          </a:solidFill>
          <a:ln w="12700">
            <a:solidFill>
              <a:srgbClr val="4F46E5"/>
            </a:solidFill>
            <a:prstDash val="solid"/>
          </a:ln>
        </p:spPr>
      </p:sp>
      <p:sp>
        <p:nvSpPr>
          <p:cNvPr id="15" name="Text 13"/>
          <p:cNvSpPr/>
          <p:nvPr/>
        </p:nvSpPr>
        <p:spPr>
          <a:xfrm>
            <a:off x="8195766" y="2151261"/>
            <a:ext cx="30565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Next visit</a:t>
            </a:r>
            <a:endParaRPr lang="en-US" sz="1600" dirty="0"/>
          </a:p>
        </p:txBody>
      </p:sp>
      <p:sp>
        <p:nvSpPr>
          <p:cNvPr id="16" name="Text 14"/>
          <p:cNvSpPr/>
          <p:nvPr/>
        </p:nvSpPr>
        <p:spPr>
          <a:xfrm>
            <a:off x="8195766" y="249664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Books · a </a:t>
            </a:r>
            <a:r>
              <a:rPr lang="en-US" sz="1200" b="1" dirty="0">
                <a:solidFill>
                  <a:srgbClr val="4A5568"/>
                </a:solidFill>
                <a:latin typeface="Arial" pitchFamily="34" charset="0"/>
                <a:ea typeface="Arial" pitchFamily="34" charset="-122"/>
                <a:cs typeface="Arial" pitchFamily="34" charset="-120"/>
              </a:rPr>
              <a:t>different</a:t>
            </a:r>
            <a:r>
              <a:rPr lang="en-US" sz="1200" dirty="0">
                <a:solidFill>
                  <a:srgbClr val="4A5568"/>
                </a:solidFill>
                <a:latin typeface="Arial" pitchFamily="34" charset="0"/>
                <a:ea typeface="Arial" pitchFamily="34" charset="-122"/>
                <a:cs typeface="Arial" pitchFamily="34" charset="-120"/>
              </a:rPr>
              <a:t> biography</a:t>
            </a:r>
            <a:endParaRPr lang="en-US" sz="1200" dirty="0"/>
          </a:p>
        </p:txBody>
      </p:sp>
      <p:sp>
        <p:nvSpPr>
          <p:cNvPr id="17" name="Text 15"/>
          <p:cNvSpPr/>
          <p:nvPr/>
        </p:nvSpPr>
        <p:spPr>
          <a:xfrm>
            <a:off x="8195766" y="281156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Fitness · Resistance Bands</a:t>
            </a:r>
            <a:endParaRPr lang="en-US" sz="1200" dirty="0"/>
          </a:p>
        </p:txBody>
      </p:sp>
      <p:sp>
        <p:nvSpPr>
          <p:cNvPr id="18" name="Text 16"/>
          <p:cNvSpPr/>
          <p:nvPr/>
        </p:nvSpPr>
        <p:spPr>
          <a:xfrm>
            <a:off x="8195766" y="312648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Fashion · Shoes, </a:t>
            </a:r>
            <a:r>
              <a:rPr lang="en-US" sz="1200" b="1" dirty="0">
                <a:solidFill>
                  <a:srgbClr val="4A5568"/>
                </a:solidFill>
                <a:latin typeface="Arial" pitchFamily="34" charset="0"/>
                <a:ea typeface="Arial" pitchFamily="34" charset="-122"/>
                <a:cs typeface="Arial" pitchFamily="34" charset="-120"/>
              </a:rPr>
              <a:t>not jeans</a:t>
            </a:r>
            <a:endParaRPr lang="en-US" sz="1200" dirty="0"/>
          </a:p>
        </p:txBody>
      </p:sp>
      <p:sp>
        <p:nvSpPr>
          <p:cNvPr id="19" name="Text 17"/>
          <p:cNvSpPr/>
          <p:nvPr/>
        </p:nvSpPr>
        <p:spPr>
          <a:xfrm>
            <a:off x="812800" y="38605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Arial" pitchFamily="34" charset="0"/>
                <a:ea typeface="Arial" pitchFamily="34" charset="-122"/>
                <a:cs typeface="Arial" pitchFamily="34" charset="-120"/>
              </a:rPr>
              <a:t>Bought and ignored items disappear, liked product types rank higher, and every browsed category stays covered.</a:t>
            </a:r>
            <a:endParaRPr lang="en-US" sz="16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Arial" pitchFamily="34" charset="0"/>
                <a:ea typeface="Arial" pitchFamily="34" charset="-122"/>
                <a:cs typeface="Arial" pitchFamily="34" charset="-120"/>
              </a:rPr>
              <a:t>From the recorded walkthrough: demo/smart_shopping_demo.mp4 (92 seconds, llama3 running locally)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CODE STRUCTURE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Plain Python, one folder per concern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6591300" cy="2993231"/>
        </p:xfrm>
        <a:graphic>
          <a:graphicData uri="http://schemas.openxmlformats.org/drawingml/2006/table">
            <a:tbl>
              <a:tblPr/>
              <a:tblGrid>
                <a:gridCol w="2768346"/>
                <a:gridCol w="3822954"/>
              </a:tblGrid>
              <a:tr h="332581">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Path</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0AEA9"/>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0AEA9"/>
                      </a:solidFill>
                      <a:prstDash val="solid"/>
                      <a:round/>
                      <a:headEnd type="none" w="med" len="med"/>
                      <a:tailEnd type="none" w="med" len="med"/>
                    </a:lnB>
                    <a:solidFill>
                      <a:srgbClr val="DCDAD3"/>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53340" marR="53340" marT="53340" marB="53340" anchor="t">
                    <a:lnL w="12700" cap="flat" cmpd="sng" algn="ctr">
                      <a:solidFill>
                        <a:srgbClr val="B0AEA9"/>
                      </a:solidFill>
                      <a:prstDash val="solid"/>
                      <a:round/>
                      <a:headEnd type="none" w="med" len="med"/>
                      <a:tailEnd type="none" w="med" len="med"/>
                    </a:lnL>
                    <a:lnR w="12700" cap="flat" cmpd="sng" algn="ctr">
                      <a:solidFill>
                        <a:srgbClr val="B0AEA9"/>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0AEA9"/>
                      </a:solidFill>
                      <a:prstDash val="solid"/>
                      <a:round/>
                      <a:headEnd type="none" w="med" len="med"/>
                      <a:tailEnd type="none" w="med" len="med"/>
                    </a:lnB>
                    <a:solidFill>
                      <a:srgbClr val="DCDAD3"/>
                    </a:solidFill>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agents/</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0AEA9"/>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Customer, Product, Feedback, Recommendation</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0AEA9"/>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utils/db.py</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Catalogue and memory schema</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utils/ollama_interface.py</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LLM and embedding client</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app.py · templates/</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Web demo and JSON API</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main.py</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Interactive CLI with feedback</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evaluate.py</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Offline evaluation vs baselines</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build_*.py</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CSV to SQLite; product embeddings</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tests/</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20 pytest tests with a fake LLM</a:t>
                      </a:r>
                      <a:endParaRPr lang="en-US" sz="1200" dirty="0">
                        <a:latin typeface="Arial" charset="0"/>
                        <a:ea typeface="Arial" charset="0"/>
                        <a:cs typeface="Arial" charset="0"/>
                      </a:endParaRPr>
                    </a:p>
                  </a:txBody>
                  <a:tcPr marL="53340" marR="53340" marT="53340" marB="53340" anchor="t">
                    <a:lnL w="12700" cap="flat" cmpd="sng" algn="ctr">
                      <a:solidFill>
                        <a:srgbClr val="BDBCB6"/>
                      </a:solidFill>
                      <a:prstDash val="solid"/>
                      <a:round/>
                      <a:headEnd type="none" w="med" len="med"/>
                      <a:tailEnd type="none" w="med" len="med"/>
                    </a:lnL>
                    <a:lnR w="12700" cap="flat" cmpd="sng" algn="ctr">
                      <a:solidFill>
                        <a:srgbClr val="BDBCB6"/>
                      </a:solidFill>
                      <a:prstDash val="solid"/>
                      <a:round/>
                      <a:headEnd type="none" w="med" len="med"/>
                      <a:tailEnd type="none" w="med" len="med"/>
                    </a:lnR>
                    <a:lnT w="12700" cap="flat" cmpd="sng" algn="ctr">
                      <a:solidFill>
                        <a:srgbClr val="BDBCB6"/>
                      </a:solidFill>
                      <a:prstDash val="solid"/>
                      <a:round/>
                      <a:headEnd type="none" w="med" len="med"/>
                      <a:tailEnd type="none" w="med" len="med"/>
                    </a:lnT>
                    <a:lnB w="12700" cap="flat" cmpd="sng" algn="ctr">
                      <a:solidFill>
                        <a:srgbClr val="BDBCB6"/>
                      </a:solidFill>
                      <a:prstDash val="solid"/>
                      <a:round/>
                      <a:headEnd type="none" w="med" len="med"/>
                      <a:tailEnd type="none" w="med" len="med"/>
                    </a:lnB>
                  </a:tcPr>
                </a:tc>
              </a:tr>
            </a:tbl>
          </a:graphicData>
        </a:graphic>
      </p:graphicFrame>
      <p:sp>
        <p:nvSpPr>
          <p:cNvPr id="5" name="Shape 2"/>
          <p:cNvSpPr/>
          <p:nvPr/>
        </p:nvSpPr>
        <p:spPr>
          <a:xfrm>
            <a:off x="7721600" y="1935361"/>
            <a:ext cx="3657600" cy="3005931"/>
          </a:xfrm>
          <a:prstGeom prst="roundRect">
            <a:avLst>
              <a:gd name="adj" fmla="val 3380"/>
            </a:avLst>
          </a:prstGeom>
          <a:solidFill>
            <a:srgbClr val="14213D"/>
          </a:solidFill>
          <a:ln/>
        </p:spPr>
      </p:sp>
      <p:sp>
        <p:nvSpPr>
          <p:cNvPr id="6" name="Text 3"/>
          <p:cNvSpPr/>
          <p:nvPr/>
        </p:nvSpPr>
        <p:spPr>
          <a:xfrm>
            <a:off x="7950200" y="2163961"/>
            <a:ext cx="32964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Run it</a:t>
            </a:r>
            <a:endParaRPr lang="en-US" sz="1600" dirty="0"/>
          </a:p>
        </p:txBody>
      </p:sp>
      <p:sp>
        <p:nvSpPr>
          <p:cNvPr id="7" name="Text 4"/>
          <p:cNvSpPr/>
          <p:nvPr/>
        </p:nvSpPr>
        <p:spPr>
          <a:xfrm>
            <a:off x="7950200" y="2509341"/>
            <a:ext cx="329641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E6"/>
                </a:solidFill>
                <a:latin typeface="Courier New" pitchFamily="49" charset="0"/>
                <a:ea typeface="Courier New" pitchFamily="49" charset="-122"/>
                <a:cs typeface="Courier New" pitchFamily="49" charset="-120"/>
              </a:rPr>
              <a:t>ollama pull llama3</a:t>
            </a:r>
            <a:endParaRPr lang="en-US" sz="1200" dirty="0"/>
          </a:p>
        </p:txBody>
      </p:sp>
      <p:sp>
        <p:nvSpPr>
          <p:cNvPr id="8" name="Text 5"/>
          <p:cNvSpPr/>
          <p:nvPr/>
        </p:nvSpPr>
        <p:spPr>
          <a:xfrm>
            <a:off x="7950200" y="2839541"/>
            <a:ext cx="329641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E6"/>
                </a:solidFill>
                <a:latin typeface="Courier New" pitchFamily="49" charset="0"/>
                <a:ea typeface="Courier New" pitchFamily="49" charset="-122"/>
                <a:cs typeface="Courier New" pitchFamily="49" charset="-120"/>
              </a:rPr>
              <a:t>pip install -r requirements.txt</a:t>
            </a:r>
            <a:endParaRPr lang="en-US" sz="1200" dirty="0"/>
          </a:p>
        </p:txBody>
      </p:sp>
      <p:sp>
        <p:nvSpPr>
          <p:cNvPr id="9" name="Text 6"/>
          <p:cNvSpPr/>
          <p:nvPr/>
        </p:nvSpPr>
        <p:spPr>
          <a:xfrm>
            <a:off x="7950200" y="3169741"/>
            <a:ext cx="329641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E6"/>
                </a:solidFill>
                <a:latin typeface="Courier New" pitchFamily="49" charset="0"/>
                <a:ea typeface="Courier New" pitchFamily="49" charset="-122"/>
                <a:cs typeface="Courier New" pitchFamily="49" charset="-120"/>
              </a:rPr>
              <a:t>python app.py</a:t>
            </a:r>
            <a:endParaRPr lang="en-US" sz="1200" dirty="0"/>
          </a:p>
        </p:txBody>
      </p:sp>
      <p:sp>
        <p:nvSpPr>
          <p:cNvPr id="10" name="Text 7"/>
          <p:cNvSpPr/>
          <p:nvPr/>
        </p:nvSpPr>
        <p:spPr>
          <a:xfrm>
            <a:off x="7950200" y="3499941"/>
            <a:ext cx="329641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E6"/>
                </a:solidFill>
                <a:latin typeface="Courier New" pitchFamily="49" charset="0"/>
                <a:ea typeface="Courier New" pitchFamily="49" charset="-122"/>
                <a:cs typeface="Courier New" pitchFamily="49" charset="-120"/>
              </a:rPr>
              <a:t>python evaluate.py</a:t>
            </a:r>
            <a:endParaRPr lang="en-US" sz="1200" dirty="0"/>
          </a:p>
        </p:txBody>
      </p:sp>
      <p:sp>
        <p:nvSpPr>
          <p:cNvPr id="11" name="Text 8"/>
          <p:cNvSpPr/>
          <p:nvPr/>
        </p:nvSpPr>
        <p:spPr>
          <a:xfrm>
            <a:off x="7950200" y="3830141"/>
            <a:ext cx="329641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E6"/>
                </a:solidFill>
                <a:latin typeface="Courier New" pitchFamily="49" charset="0"/>
                <a:ea typeface="Courier New" pitchFamily="49" charset="-122"/>
                <a:cs typeface="Courier New" pitchFamily="49" charset="-120"/>
              </a:rPr>
              <a:t>pytest tests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F46E5"/>
                </a:solidFill>
                <a:latin typeface="Arial" pitchFamily="34" charset="0"/>
                <a:ea typeface="Arial" pitchFamily="34" charset="-122"/>
                <a:cs typeface="Arial" pitchFamily="34" charset="-120"/>
              </a:rPr>
              <a:t>BENEFIT AND IMPACT</a:t>
            </a:r>
            <a:endParaRPr lang="en-US" sz="1200" dirty="0"/>
          </a:p>
        </p:txBody>
      </p:sp>
      <p:sp>
        <p:nvSpPr>
          <p:cNvPr id="3" name="Text 1"/>
          <p:cNvSpPr/>
          <p:nvPr>
            <p:ph type="title"/>
          </p:nvPr>
        </p:nvSpPr>
        <p:spPr>
          <a:xfrm>
            <a:off x="812800" y="112772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Arial" pitchFamily="34" charset="0"/>
                <a:ea typeface="Arial" pitchFamily="34" charset="-122"/>
                <a:cs typeface="Arial" pitchFamily="34" charset="-120"/>
              </a:rPr>
              <a:t>Every business goal has a mechanism behind it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1796355"/>
        </p:xfrm>
        <a:graphic>
          <a:graphicData uri="http://schemas.openxmlformats.org/drawingml/2006/table">
            <a:tbl>
              <a:tblPr/>
              <a:tblGrid>
                <a:gridCol w="2321814"/>
                <a:gridCol w="8231886"/>
              </a:tblGrid>
              <a:tr h="359271">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Goal</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How the system moves it</a:t>
                      </a:r>
                      <a:endParaRPr lang="en-US" sz="1300" dirty="0">
                        <a:latin typeface="Arial" charset="0"/>
                        <a:ea typeface="Arial" charset="0"/>
                        <a:cs typeface="Arial"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Engagement</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 plain-language reason on every item; the list adapts after each click</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Order value</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Prices fit each shopper’s usual spend; complements for frequent buyers</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Retention</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Seasonal and holiday picks for occasional shoppers; memory across visits</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Conversion</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Retargets browsed-but-not-bought categories; ignored items never repeat</a:t>
                      </a:r>
                      <a:endParaRPr lang="en-US" sz="1300" dirty="0">
                        <a:latin typeface="Arial" charset="0"/>
                        <a:ea typeface="Arial" charset="0"/>
                        <a:cs typeface="Arial"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Shape 2"/>
          <p:cNvSpPr/>
          <p:nvPr/>
        </p:nvSpPr>
        <p:spPr>
          <a:xfrm>
            <a:off x="812800" y="4049216"/>
            <a:ext cx="10566400" cy="817761"/>
          </a:xfrm>
          <a:prstGeom prst="roundRect">
            <a:avLst>
              <a:gd name="adj" fmla="val 12424"/>
            </a:avLst>
          </a:prstGeom>
          <a:solidFill>
            <a:srgbClr val="ECEBFD"/>
          </a:solidFill>
          <a:ln/>
        </p:spPr>
      </p:sp>
      <p:pic>
        <p:nvPicPr>
          <p:cNvPr id="6" name="Image 0" descr="Lock">    </p:cNvPr>
          <p:cNvPicPr>
            <a:picLocks noChangeAspect="1"/>
          </p:cNvPicPr>
          <p:nvPr/>
        </p:nvPicPr>
        <p:blipFill>
          <a:blip r:embed="rId1"/>
          <a:srcRect l="0" r="0" t="0" b="0"/>
          <a:stretch/>
        </p:blipFill>
        <p:spPr>
          <a:xfrm>
            <a:off x="1016000" y="4305697"/>
            <a:ext cx="304800" cy="304800"/>
          </a:xfrm>
          <a:prstGeom prst="rect">
            <a:avLst/>
          </a:prstGeom>
        </p:spPr>
      </p:pic>
      <p:sp>
        <p:nvSpPr>
          <p:cNvPr id="7" name="Text 3"/>
          <p:cNvSpPr/>
          <p:nvPr/>
        </p:nvSpPr>
        <p:spPr>
          <a:xfrm>
            <a:off x="1473200" y="4227016"/>
            <a:ext cx="9993884"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Arial" pitchFamily="34" charset="0"/>
                <a:ea typeface="Arial" pitchFamily="34" charset="-122"/>
                <a:cs typeface="Arial" pitchFamily="34" charset="-120"/>
              </a:rPr>
              <a:t>On-prem by design:</a:t>
            </a:r>
            <a:r>
              <a:rPr lang="en-US" sz="1300" dirty="0">
                <a:solidFill>
                  <a:srgbClr val="14213D"/>
                </a:solidFill>
                <a:latin typeface="Arial" pitchFamily="34" charset="0"/>
                <a:ea typeface="Arial" pitchFamily="34" charset="-122"/>
                <a:cs typeface="Arial" pitchFamily="34" charset="-120"/>
              </a:rPr>
              <a:t> llama3 and the embedding model run on an 8 GB laptop GPU, so no customer data leaves the machine and there is no per-call API cost.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Arial" pitchFamily="34" charset="0"/>
                <a:ea typeface="Arial" pitchFamily="34" charset="-122"/>
                <a:cs typeface="Arial" pitchFamily="34" charset="-120"/>
              </a:rPr>
              <a:t>Next steps</a:t>
            </a:r>
            <a:endParaRPr lang="en-US" sz="3600" dirty="0"/>
          </a:p>
        </p:txBody>
      </p:sp>
      <p:sp>
        <p:nvSpPr>
          <p:cNvPr id="3" name="Shape 1"/>
          <p:cNvSpPr/>
          <p:nvPr/>
        </p:nvSpPr>
        <p:spPr>
          <a:xfrm>
            <a:off x="812800" y="2799159"/>
            <a:ext cx="3386634" cy="0"/>
          </a:xfrm>
          <a:prstGeom prst="line">
            <a:avLst/>
          </a:prstGeom>
          <a:noFill/>
          <a:ln w="25400">
            <a:solidFill>
              <a:srgbClr val="F0A070"/>
            </a:solidFill>
            <a:prstDash val="solid"/>
          </a:ln>
        </p:spPr>
      </p:sp>
      <p:sp>
        <p:nvSpPr>
          <p:cNvPr id="4" name="Text 2"/>
          <p:cNvSpPr/>
          <p:nvPr/>
        </p:nvSpPr>
        <p:spPr>
          <a:xfrm>
            <a:off x="812800" y="2964259"/>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A/B test on live traffic</a:t>
            </a:r>
            <a:endParaRPr lang="en-US" sz="1600" dirty="0"/>
          </a:p>
        </p:txBody>
      </p:sp>
      <p:sp>
        <p:nvSpPr>
          <p:cNvPr id="5" name="Text 3"/>
          <p:cNvSpPr/>
          <p:nvPr/>
        </p:nvSpPr>
        <p:spPr>
          <a:xfrm>
            <a:off x="812800" y="3284240"/>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Measure real conversion and order-value uplift against today’s segment lists.</a:t>
            </a:r>
            <a:endParaRPr lang="en-US" sz="1200" dirty="0"/>
          </a:p>
        </p:txBody>
      </p:sp>
      <p:sp>
        <p:nvSpPr>
          <p:cNvPr id="6" name="Shape 4"/>
          <p:cNvSpPr/>
          <p:nvPr/>
        </p:nvSpPr>
        <p:spPr>
          <a:xfrm>
            <a:off x="4402634" y="2799159"/>
            <a:ext cx="3386733" cy="0"/>
          </a:xfrm>
          <a:prstGeom prst="line">
            <a:avLst/>
          </a:prstGeom>
          <a:noFill/>
          <a:ln w="25400">
            <a:solidFill>
              <a:srgbClr val="F0A070"/>
            </a:solidFill>
            <a:prstDash val="solid"/>
          </a:ln>
        </p:spPr>
      </p:sp>
      <p:sp>
        <p:nvSpPr>
          <p:cNvPr id="7" name="Text 5"/>
          <p:cNvSpPr/>
          <p:nvPr/>
        </p:nvSpPr>
        <p:spPr>
          <a:xfrm>
            <a:off x="4402634" y="2964259"/>
            <a:ext cx="34883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Learn the weights</a:t>
            </a:r>
            <a:endParaRPr lang="en-US" sz="1600" dirty="0"/>
          </a:p>
        </p:txBody>
      </p:sp>
      <p:sp>
        <p:nvSpPr>
          <p:cNvPr id="8" name="Text 6"/>
          <p:cNvSpPr/>
          <p:nvPr/>
        </p:nvSpPr>
        <p:spPr>
          <a:xfrm>
            <a:off x="4402634" y="3284240"/>
            <a:ext cx="34883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Tune each segment’s signal weights from logged feedback instead of hand-setting them.</a:t>
            </a:r>
            <a:endParaRPr lang="en-US" sz="1200" dirty="0"/>
          </a:p>
        </p:txBody>
      </p:sp>
      <p:sp>
        <p:nvSpPr>
          <p:cNvPr id="9" name="Shape 7"/>
          <p:cNvSpPr/>
          <p:nvPr/>
        </p:nvSpPr>
        <p:spPr>
          <a:xfrm>
            <a:off x="7992566" y="2799159"/>
            <a:ext cx="3386634" cy="0"/>
          </a:xfrm>
          <a:prstGeom prst="line">
            <a:avLst/>
          </a:prstGeom>
          <a:noFill/>
          <a:ln w="25400">
            <a:solidFill>
              <a:srgbClr val="F0A070"/>
            </a:solidFill>
            <a:prstDash val="solid"/>
          </a:ln>
        </p:spPr>
      </p:sp>
      <p:sp>
        <p:nvSpPr>
          <p:cNvPr id="10" name="Text 8"/>
          <p:cNvSpPr/>
          <p:nvPr/>
        </p:nvSpPr>
        <p:spPr>
          <a:xfrm>
            <a:off x="7992566" y="2964259"/>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Arial" pitchFamily="34" charset="0"/>
                <a:ea typeface="Arial" pitchFamily="34" charset="-122"/>
                <a:cs typeface="Arial" pitchFamily="34" charset="-120"/>
              </a:rPr>
              <a:t>Richer product text</a:t>
            </a:r>
            <a:endParaRPr lang="en-US" sz="1600" dirty="0"/>
          </a:p>
        </p:txBody>
      </p:sp>
      <p:sp>
        <p:nvSpPr>
          <p:cNvPr id="11" name="Text 9"/>
          <p:cNvSpPr/>
          <p:nvPr/>
        </p:nvSpPr>
        <p:spPr>
          <a:xfrm>
            <a:off x="7992566" y="3284240"/>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Real titles and descriptions would give the embeddings far more to work with.</a:t>
            </a:r>
            <a:endParaRPr lang="en-US" sz="1200" dirty="0"/>
          </a:p>
        </p:txBody>
      </p:sp>
      <p:sp>
        <p:nvSpPr>
          <p:cNvPr id="12" name="Text 10"/>
          <p:cNvSpPr/>
          <p:nvPr/>
        </p:nvSpPr>
        <p:spPr>
          <a:xfrm>
            <a:off x="812800" y="5181699"/>
            <a:ext cx="2660553"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70"/>
                </a:solidFill>
                <a:latin typeface="Arial" pitchFamily="34" charset="0"/>
                <a:ea typeface="Arial" pitchFamily="34" charset="-122"/>
                <a:cs typeface="Arial" pitchFamily="34" charset="-120"/>
              </a:rPr>
              <a:t>TEAM</a:t>
            </a:r>
            <a:endParaRPr lang="en-US" sz="1200" dirty="0"/>
          </a:p>
        </p:txBody>
      </p:sp>
      <p:sp>
        <p:nvSpPr>
          <p:cNvPr id="13" name="Text 11"/>
          <p:cNvSpPr/>
          <p:nvPr/>
        </p:nvSpPr>
        <p:spPr>
          <a:xfrm>
            <a:off x="812800" y="5471220"/>
            <a:ext cx="266055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Arial" pitchFamily="34" charset="0"/>
                <a:ea typeface="Arial" pitchFamily="34" charset="-122"/>
                <a:cs typeface="Arial" pitchFamily="34" charset="-120"/>
              </a:rPr>
              <a:t>[Team name]</a:t>
            </a:r>
            <a:endParaRPr lang="en-US" sz="1600" dirty="0"/>
          </a:p>
        </p:txBody>
      </p:sp>
      <p:sp>
        <p:nvSpPr>
          <p:cNvPr id="14" name="Text 12"/>
          <p:cNvSpPr/>
          <p:nvPr/>
        </p:nvSpPr>
        <p:spPr>
          <a:xfrm>
            <a:off x="812800" y="5831880"/>
            <a:ext cx="30996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6"/>
                </a:solidFill>
                <a:latin typeface="Arial" pitchFamily="34" charset="0"/>
                <a:ea typeface="Arial" pitchFamily="34" charset="-122"/>
                <a:cs typeface="Arial" pitchFamily="34" charset="-120"/>
              </a:rPr>
              <a:t>[Member 1] · [Member 2] · [Member 3]</a:t>
            </a:r>
            <a:endParaRPr lang="en-US" sz="1200" dirty="0"/>
          </a:p>
        </p:txBody>
      </p:sp>
      <p:sp>
        <p:nvSpPr>
          <p:cNvPr id="15" name="Text 13"/>
          <p:cNvSpPr/>
          <p:nvPr/>
        </p:nvSpPr>
        <p:spPr>
          <a:xfrm>
            <a:off x="8635643" y="5405140"/>
            <a:ext cx="2743557" cy="665460"/>
          </a:xfrm>
          <a:prstGeom prst="rect">
            <a:avLst/>
          </a:prstGeom>
          <a:noFill/>
          <a:ln/>
        </p:spPr>
        <p:txBody>
          <a:bodyPr wrap="square" lIns="0" tIns="0" rIns="0" bIns="0" rtlCol="0" anchor="t">
            <a:normAutofit/>
          </a:bodyPr>
          <a:lstStyle/>
          <a:p>
            <a:pPr algn="r" indent="0" marL="0">
              <a:lnSpc>
                <a:spcPts val="5040"/>
              </a:lnSpc>
              <a:buNone/>
            </a:pPr>
            <a:r>
              <a:rPr lang="en-US" sz="3600" b="1" dirty="0">
                <a:solidFill>
                  <a:srgbClr val="F7F6F2"/>
                </a:solidFill>
                <a:latin typeface="Arial" pitchFamily="34" charset="0"/>
                <a:ea typeface="Arial" pitchFamily="34" charset="-122"/>
                <a:cs typeface="Arial" pitchFamily="34" charset="-120"/>
              </a:rPr>
              <a:t>Thank you</a:t>
            </a:r>
            <a:endParaRPr lang="en-US" sz="3600" dirty="0"/>
          </a:p>
        </p:txBody>
      </p:sp>
    </p:spTree>
  </p:cSld>
  <p:clrMapOvr>
    <a:masterClrMapping/>
  </p:clrMapOvr>
</p:sld>
</file>

<file path=ppt/theme/theme1.xml><?xml version="1.0" encoding="utf-8"?>
<a:theme xmlns:a="http://schemas.openxmlformats.org/drawingml/2006/main" name="Smart Shopping: Multi-Agent Personalized Recommendations">
  <a:themeElements>
    <a:clrScheme name="Smart Shopping: Multi-Agent Personalized Recommendations">
      <a:dk1>
        <a:srgbClr val="14213D"/>
      </a:dk1>
      <a:lt1>
        <a:srgbClr val="F7F6F2"/>
      </a:lt1>
      <a:dk2>
        <a:srgbClr val="4D566A"/>
      </a:dk2>
      <a:lt2>
        <a:srgbClr val="E0E1E0"/>
      </a:lt2>
      <a:accent1>
        <a:srgbClr val="4F46E5"/>
      </a:accent1>
      <a:accent2>
        <a:srgbClr val="F0A070"/>
      </a:accent2>
      <a:accent3>
        <a:srgbClr val="8E9BB8"/>
      </a:accent3>
      <a:accent4>
        <a:srgbClr val="4A5568"/>
      </a:accent4>
      <a:accent5>
        <a:srgbClr val="C9D3E6"/>
      </a:accent5>
      <a:accent6>
        <a:srgbClr val="B9B7AE"/>
      </a:accent6>
      <a:hlink>
        <a:srgbClr val="0563C1"/>
      </a:hlink>
      <a:folHlink>
        <a:srgbClr val="954F72"/>
      </a:folHlink>
    </a:clrScheme>
    <a:fontScheme name="Smart Shopping: Multi-Agent Personalized Recommendatio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Shopping: Multi-Agent Personalized Recommendations</dc:title>
  <dc:subject/>
  <dc:creator/>
  <cp:lastModifiedBy/>
  <cp:revision>1</cp:revision>
  <dcterms:created xsi:type="dcterms:W3CDTF">2026-10-16T12:01:03Z</dcterms:created>
  <dcterms:modified xsi:type="dcterms:W3CDTF">2026-10-16T12:01:03Z</dcterms:modified>
</cp:coreProperties>
</file>